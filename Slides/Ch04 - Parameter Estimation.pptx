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6" r:id="rId2"/>
    <p:sldId id="379" r:id="rId3"/>
    <p:sldId id="380" r:id="rId4"/>
    <p:sldId id="416" r:id="rId5"/>
    <p:sldId id="382" r:id="rId6"/>
    <p:sldId id="383" r:id="rId7"/>
    <p:sldId id="384" r:id="rId8"/>
    <p:sldId id="385" r:id="rId9"/>
    <p:sldId id="417" r:id="rId10"/>
    <p:sldId id="386" r:id="rId11"/>
    <p:sldId id="388" r:id="rId12"/>
    <p:sldId id="418" r:id="rId13"/>
    <p:sldId id="389" r:id="rId14"/>
    <p:sldId id="390" r:id="rId15"/>
    <p:sldId id="419" r:id="rId16"/>
    <p:sldId id="391" r:id="rId17"/>
    <p:sldId id="392" r:id="rId18"/>
    <p:sldId id="393" r:id="rId19"/>
    <p:sldId id="394" r:id="rId20"/>
    <p:sldId id="395" r:id="rId21"/>
    <p:sldId id="420" r:id="rId22"/>
    <p:sldId id="421" r:id="rId23"/>
    <p:sldId id="422" r:id="rId24"/>
    <p:sldId id="423" r:id="rId25"/>
    <p:sldId id="425" r:id="rId26"/>
    <p:sldId id="424" r:id="rId27"/>
    <p:sldId id="403" r:id="rId28"/>
    <p:sldId id="404" r:id="rId29"/>
    <p:sldId id="405" r:id="rId30"/>
    <p:sldId id="406" r:id="rId31"/>
    <p:sldId id="407" r:id="rId32"/>
    <p:sldId id="409" r:id="rId33"/>
    <p:sldId id="426" r:id="rId34"/>
    <p:sldId id="428" r:id="rId35"/>
    <p:sldId id="411" r:id="rId36"/>
    <p:sldId id="412" r:id="rId37"/>
    <p:sldId id="436" r:id="rId38"/>
    <p:sldId id="429" r:id="rId39"/>
    <p:sldId id="432" r:id="rId40"/>
    <p:sldId id="433" r:id="rId41"/>
    <p:sldId id="434" r:id="rId42"/>
    <p:sldId id="435" r:id="rId43"/>
    <p:sldId id="430" r:id="rId44"/>
    <p:sldId id="427" r:id="rId45"/>
    <p:sldId id="449" r:id="rId46"/>
    <p:sldId id="450" r:id="rId47"/>
    <p:sldId id="431" r:id="rId48"/>
    <p:sldId id="413" r:id="rId49"/>
    <p:sldId id="414" r:id="rId50"/>
    <p:sldId id="415" r:id="rId51"/>
    <p:sldId id="452" r:id="rId52"/>
    <p:sldId id="453" r:id="rId53"/>
    <p:sldId id="437" r:id="rId54"/>
    <p:sldId id="438" r:id="rId55"/>
    <p:sldId id="444" r:id="rId56"/>
    <p:sldId id="445" r:id="rId57"/>
    <p:sldId id="446" r:id="rId58"/>
    <p:sldId id="447" r:id="rId59"/>
    <p:sldId id="448" r:id="rId60"/>
    <p:sldId id="439" r:id="rId61"/>
    <p:sldId id="440" r:id="rId62"/>
    <p:sldId id="442" r:id="rId63"/>
    <p:sldId id="443" r:id="rId64"/>
    <p:sldId id="378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9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33" autoAdjust="0"/>
    <p:restoredTop sz="95097" autoAdjust="0"/>
  </p:normalViewPr>
  <p:slideViewPr>
    <p:cSldViewPr snapToGrid="0">
      <p:cViewPr varScale="1">
        <p:scale>
          <a:sx n="83" d="100"/>
          <a:sy n="83" d="100"/>
        </p:scale>
        <p:origin x="426" y="90"/>
      </p:cViewPr>
      <p:guideLst/>
    </p:cSldViewPr>
  </p:slideViewPr>
  <p:outlineViewPr>
    <p:cViewPr>
      <p:scale>
        <a:sx n="33" d="100"/>
        <a:sy n="33" d="100"/>
      </p:scale>
      <p:origin x="0" y="-901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04896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8BE4D4-1040-4D04-A65A-70B5A3F2860E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104897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4897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7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04897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8BD43-8474-4631-8579-0A901507785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27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6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1D312-F26A-4CD8-BAB8-8917A28E900E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A28B7-7C9D-4329-9628-16551B846547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5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41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EAE32-22CC-4BB5-B739-15FAB2344DE8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6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42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943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94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4B64A-E04D-4EB9-9E31-605381857E91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94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4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12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13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9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15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91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47DF8-0080-43A7-B160-5F33B53AC497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91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1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87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04D8E-41AF-4846-AD55-422E4A295331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88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8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9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8036-1D47-438A-8757-CA2003EA0C52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92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2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7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58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959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6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F24BF-209C-4B8A-BF73-45273F90FEDA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96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6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89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4889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9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34FD-0726-4E7B-BD47-03ABA500F220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89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9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5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36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48937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3F354-D9AF-4B7B-AC70-CA84C18CD659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9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7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88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781B5-0478-4545-A677-9D7FF0E5DF33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8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7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28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48929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A180-AC02-423B-A199-1EBC83E204A8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9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48933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048934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88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8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93F1-E98B-412D-9A77-A560C2C003D9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88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8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7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48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49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5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51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52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53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145731" name="Straight Connector 16"/>
          <p:cNvCxnSpPr>
            <a:cxnSpLocks/>
          </p:cNvCxnSpPr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2" name="Straight Connector 17"/>
          <p:cNvCxnSpPr>
            <a:cxnSpLocks/>
          </p:cNvCxnSpPr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95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6353-5111-4FCE-86CD-4C42D74FD1B8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95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8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899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0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4890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0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0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4890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0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0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4890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145729" name="Straight Connector 18"/>
          <p:cNvCxnSpPr>
            <a:cxnSpLocks/>
          </p:cNvCxnSpPr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0" name="Straight Connector 19"/>
          <p:cNvCxnSpPr>
            <a:cxnSpLocks/>
          </p:cNvCxnSpPr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9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78082-B781-4B8E-9DFA-37A6745D879A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9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6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96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B185E-2396-40B3-89E8-520E13109244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96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92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9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492BE-51AC-4E48-8764-3CC8A2B832F1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9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/>
          <p:cNvPicPr>
            <a:picLocks noChangeAspect="1"/>
          </p:cNvPicPr>
          <p:nvPr/>
        </p:nvPicPr>
        <p:blipFill rotWithShape="1">
          <a:blip r:embed="rId19"/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097153" name="Picture 6"/>
          <p:cNvPicPr>
            <a:picLocks noChangeAspect="1"/>
          </p:cNvPicPr>
          <p:nvPr/>
        </p:nvPicPr>
        <p:blipFill rotWithShape="1">
          <a:blip r:embed="rId20"/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04857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2097154" name="Picture 8"/>
          <p:cNvPicPr>
            <a:picLocks noChangeAspect="1"/>
          </p:cNvPicPr>
          <p:nvPr/>
        </p:nvPicPr>
        <p:blipFill rotWithShape="1">
          <a:blip r:embed="rId21"/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97155" name="Picture 9"/>
          <p:cNvPicPr>
            <a:picLocks noChangeAspect="1"/>
          </p:cNvPicPr>
          <p:nvPr/>
        </p:nvPicPr>
        <p:blipFill rotWithShape="1">
          <a:blip r:embed="rId22"/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048577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48578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9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0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89AA53F-CA45-400F-8680-793A76110BAB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1048581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582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A5CAE-008F-4D91-B9F8-9E20DE4C64DD}" type="slidenum">
              <a:rPr lang="en-US" smtClean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245D3-CD65-E83E-746D-8F2EF7BAC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7591" y="1818166"/>
            <a:ext cx="9351238" cy="2959214"/>
          </a:xfrm>
        </p:spPr>
        <p:txBody>
          <a:bodyPr/>
          <a:lstStyle/>
          <a:p>
            <a:pPr algn="ctr"/>
            <a:r>
              <a:rPr lang="en-US" sz="6600" b="1" dirty="0"/>
              <a:t>Parameter Estimation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ADFED-72FC-8ECE-223E-74E6092A0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5176214"/>
            <a:ext cx="8307170" cy="861420"/>
          </a:xfrm>
        </p:spPr>
        <p:txBody>
          <a:bodyPr>
            <a:normAutofit/>
          </a:bodyPr>
          <a:lstStyle/>
          <a:p>
            <a:r>
              <a:rPr lang="en-US" b="1" dirty="0"/>
              <a:t>Chapter 4</a:t>
            </a:r>
          </a:p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7056C-E5B6-BC92-4AFE-9AAADB4D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481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648930" y="629266"/>
            <a:ext cx="6997010" cy="1622321"/>
          </a:xfrm>
        </p:spPr>
        <p:txBody>
          <a:bodyPr>
            <a:normAutofit/>
          </a:bodyPr>
          <a:lstStyle/>
          <a:p>
            <a:r>
              <a:rPr lang="en-US" dirty="0"/>
              <a:t>🔍 </a:t>
            </a:r>
            <a:r>
              <a:rPr lang="en-US" b="1" dirty="0"/>
              <a:t>Chapter 4 Roadmap</a:t>
            </a:r>
            <a:endParaRPr lang="en-US" dirty="0">
              <a:solidFill>
                <a:srgbClr val="EBEBE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863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8510" y="1702340"/>
                <a:ext cx="6754239" cy="4922196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b="1" dirty="0"/>
                  <a:t>Core Problem: </a:t>
                </a:r>
                <a:r>
                  <a:rPr lang="en-US" sz="2400" dirty="0"/>
                  <a:t>Given dataset “D”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find the true “θ”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b="1" dirty="0"/>
                  <a:t>Estimator Quality: </a:t>
                </a:r>
                <a:r>
                  <a:rPr lang="en-US" sz="2400" dirty="0"/>
                  <a:t>Unbiasedness, variance, consistency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b="1" dirty="0"/>
                  <a:t>Fisher Information: </a:t>
                </a:r>
                <a:r>
                  <a:rPr lang="en-US" sz="2400" dirty="0"/>
                  <a:t>How much data tells us about “θ”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b="1" dirty="0"/>
                  <a:t>Two Doctrines: </a:t>
                </a:r>
                <a:r>
                  <a:rPr lang="en-US" sz="2400" dirty="0"/>
                  <a:t>Frequentism vs. Bayesian interpretation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b="1" dirty="0"/>
                  <a:t>Cramér–Rao Bound: </a:t>
                </a:r>
                <a:r>
                  <a:rPr lang="en-US" sz="2400" dirty="0"/>
                  <a:t>Minimum variance lower bound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b="1" dirty="0"/>
                  <a:t>MLE &amp; MAP: </a:t>
                </a:r>
                <a:r>
                  <a:rPr lang="en-US" sz="2400" dirty="0"/>
                  <a:t>Max Likelihood and Max A Posteriori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sz="2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sz="2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sz="2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sz="2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sz="2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sz="2400" dirty="0"/>
              </a:p>
            </p:txBody>
          </p:sp>
        </mc:Choice>
        <mc:Fallback xmlns="">
          <p:sp>
            <p:nvSpPr>
              <p:cNvPr id="104863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8510" y="1702340"/>
                <a:ext cx="6754239" cy="4922196"/>
              </a:xfrm>
              <a:blipFill>
                <a:blip r:embed="rId2"/>
                <a:stretch>
                  <a:fillRect l="-2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8638" name="Freeform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97163" name="Picture 5" descr="A white wall with drawings on it  AI-generated content may be incorrect."/>
          <p:cNvPicPr>
            <a:picLocks noChangeAspect="1"/>
          </p:cNvPicPr>
          <p:nvPr/>
        </p:nvPicPr>
        <p:blipFill>
          <a:blip r:embed="rId3"/>
          <a:srcRect l="21883" r="37407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  <p:sp>
        <p:nvSpPr>
          <p:cNvPr id="104863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C7A5CAE-008F-4D91-B9F8-9E20DE4C64D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40870-D01D-F82E-B99A-1152B7A99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</a:rPr>
              <a:t>Statistics &amp; Estimators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44DC8-91E2-5473-5243-D5C429D3F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1019C56-AF94-FD27-1304-5822FFEE44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46014" y="1799951"/>
                <a:ext cx="5254705" cy="4839320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b="1" dirty="0"/>
                  <a:t>The Setting</a:t>
                </a:r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Model p(</a:t>
                </a:r>
                <a:r>
                  <a:rPr lang="en-US" dirty="0" err="1"/>
                  <a:t>x|ω</a:t>
                </a:r>
                <a:r>
                  <a:rPr lang="en-US" dirty="0"/>
                  <a:t>ᵢ, θ) with parameter vector θ ∈ </a:t>
                </a:r>
                <a:r>
                  <a:rPr lang="en-US" dirty="0" err="1"/>
                  <a:t>ℝq</a:t>
                </a:r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Dataset D = {x₁, …, xₙ} generated by p(</a:t>
                </a:r>
                <a:r>
                  <a:rPr lang="en-US" dirty="0" err="1"/>
                  <a:t>x|ω</a:t>
                </a:r>
                <a:r>
                  <a:rPr lang="en-US" dirty="0"/>
                  <a:t>ᵢ, θ)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Goal: find the "true" θ from samples D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Sample space S = M ∪ M² ∪ M³ ∪ ···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Parameter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1019C56-AF94-FD27-1304-5822FFEE4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14" y="1799951"/>
                <a:ext cx="5254705" cy="4839320"/>
              </a:xfrm>
              <a:prstGeom prst="rect">
                <a:avLst/>
              </a:prstGeom>
              <a:blipFill>
                <a:blip r:embed="rId2"/>
                <a:stretch>
                  <a:fillRect l="-115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6F89C6B-1FE3-49FB-E739-35309EA41651}"/>
              </a:ext>
            </a:extLst>
          </p:cNvPr>
          <p:cNvSpPr txBox="1">
            <a:spLocks/>
          </p:cNvSpPr>
          <p:nvPr/>
        </p:nvSpPr>
        <p:spPr>
          <a:xfrm>
            <a:off x="6385117" y="1799951"/>
            <a:ext cx="5254705" cy="2393677"/>
          </a:xfrm>
          <a:prstGeom prst="rect">
            <a:avLst/>
          </a:prstGeom>
          <a:ln w="38100">
            <a:solidFill>
              <a:schemeClr val="tx1"/>
            </a:solidFill>
            <a:prstDash val="dash"/>
          </a:ln>
        </p:spPr>
        <p:txBody>
          <a:bodyPr vert="horz" lIns="91440" tIns="91440" rIns="91440" bIns="9144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0A500"/>
                </a:solidFill>
              </a:rPr>
              <a:t>Statistic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A measurable function s : S → ℝ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i="1" dirty="0"/>
              <a:t>s : S → ℝ  (maps samples to real numbers)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ED9FC99-2E74-9CE0-A0A8-8D1E6995050E}"/>
              </a:ext>
            </a:extLst>
          </p:cNvPr>
          <p:cNvSpPr txBox="1">
            <a:spLocks/>
          </p:cNvSpPr>
          <p:nvPr/>
        </p:nvSpPr>
        <p:spPr>
          <a:xfrm>
            <a:off x="6385117" y="4344022"/>
            <a:ext cx="5254705" cy="2295249"/>
          </a:xfrm>
          <a:prstGeom prst="rect">
            <a:avLst/>
          </a:prstGeom>
          <a:ln w="38100">
            <a:solidFill>
              <a:schemeClr val="tx1"/>
            </a:solidFill>
            <a:prstDash val="dash"/>
          </a:ln>
        </p:spPr>
        <p:txBody>
          <a:bodyPr vert="horz" lIns="91440" tIns="91440" rIns="91440" bIns="9144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0A500"/>
                </a:solidFill>
              </a:rPr>
              <a:t>Estimator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statistic that maps into the parameter space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i="1" dirty="0"/>
              <a:t>s : S → Θ  (maps samples to parameters)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732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68192-181D-8776-6DD0-E032027E1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4794D-9455-6BC6-9375-FF66A52B2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</a:rPr>
              <a:t>Two Doctrines of Probability</a:t>
            </a:r>
            <a:br>
              <a:rPr lang="en-US" sz="4400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369A3-80E8-019E-4595-AB63DA966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84D56F-047C-B6DC-36C8-F40A786998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0987" y="1731558"/>
                <a:ext cx="5655013" cy="4961072"/>
              </a:xfrm>
              <a:ln w="38100">
                <a:solidFill>
                  <a:schemeClr val="tx1"/>
                </a:solidFill>
                <a:prstDash val="dash"/>
              </a:ln>
            </p:spPr>
            <p:txBody>
              <a:bodyPr tIns="91440" bIns="91440">
                <a:normAutofit/>
              </a:bodyPr>
              <a:lstStyle/>
              <a:p>
                <a:pPr marL="457200" indent="-457200" algn="ctr">
                  <a:buFont typeface="+mj-lt"/>
                  <a:buAutoNum type="arabicPeriod"/>
                </a:pPr>
                <a:r>
                  <a:rPr lang="en-US" b="1" kern="0" spc="300" dirty="0"/>
                  <a:t>FREQUENTISM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i="1" dirty="0"/>
                  <a:t>Objective Probability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Probability = physical property (like weight)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Defined as limit of infinite repetitions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θ is fixed but unknown constant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— θ controls the density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Choose θ̂ to maximize likelihood of data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Leads to Maximum Likelihood Estimation (MLE)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84D56F-047C-B6DC-36C8-F40A786998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0987" y="1731558"/>
                <a:ext cx="5655013" cy="4961072"/>
              </a:xfrm>
              <a:blipFill>
                <a:blip r:embed="rId2"/>
                <a:stretch>
                  <a:fillRect l="-107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AA8DDF44-94A6-56AF-B5CD-3A7802857D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9312" y="1731558"/>
                <a:ext cx="5561701" cy="4961072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457200" indent="-457200" algn="ctr">
                  <a:buFont typeface="+mj-lt"/>
                  <a:buAutoNum type="arabicPeriod" startAt="2"/>
                </a:pPr>
                <a:r>
                  <a:rPr lang="en-US" b="1" kern="0" spc="300" dirty="0"/>
                  <a:t>BAYESIANISM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i="1" dirty="0"/>
                  <a:t>Subjective Probability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Probability = degree of belief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No experiment needed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θ is a random variable itself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— θ has its own distribution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Choose θ̂ with max a posteriori probability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Leads to Maximum A Posteriori (MAP)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AA8DDF44-94A6-56AF-B5CD-3A7802857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312" y="1731558"/>
                <a:ext cx="5561701" cy="4961072"/>
              </a:xfrm>
              <a:prstGeom prst="rect">
                <a:avLst/>
              </a:prstGeom>
              <a:blipFill>
                <a:blip r:embed="rId3"/>
                <a:stretch>
                  <a:fillRect l="-109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6906462-D7F8-ED37-8FD8-A042281F1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2766" y="5480989"/>
            <a:ext cx="2961788" cy="121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879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F6FEE-6E2D-4241-C0FC-22A188833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BA27-50EA-322E-9DEA-0E1301447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</a:rPr>
              <a:t>MLE vs MAP Estimation</a:t>
            </a:r>
            <a:br>
              <a:rPr lang="en-US" sz="4400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8502F-1753-1F55-C5D7-E6FAC413A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BECBEFF-6EF6-9026-8F4D-B2218849F0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5131" y="1799952"/>
                <a:ext cx="10695531" cy="1710503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 fontScale="92500" lnSpcReduction="1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b="1" dirty="0"/>
                  <a:t>Maximum Likelihood Estimation (MLE)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̂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𝒂𝒓𝒈𝒎𝒂𝒙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 ∏ 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b="1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Choose parameter θ to maximize the probability (likelihood) of observing the dataset D.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BECBEFF-6EF6-9026-8F4D-B2218849F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31" y="1799952"/>
                <a:ext cx="10695531" cy="1710503"/>
              </a:xfrm>
              <a:prstGeom prst="rect">
                <a:avLst/>
              </a:prstGeom>
              <a:blipFill>
                <a:blip r:embed="rId2"/>
                <a:stretch>
                  <a:fillRect l="-57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3C61A88-F6FD-D6E0-B43D-500FC77BFE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5131" y="3697069"/>
                <a:ext cx="10695531" cy="1799841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b="1" dirty="0"/>
                  <a:t>Maximum A Posteriori Estimation (MAP)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̂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𝒂𝒓𝒈𝒎𝒂𝒙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  ∝ 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 ·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   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𝑩𝒂𝒚𝒆𝒔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𝑳𝒂𝒘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Choose parameter θ to maximize the posterior probability given observations D. Requires a prior distribution p(θ).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3C61A88-F6FD-D6E0-B43D-500FC77B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31" y="3697069"/>
                <a:ext cx="10695531" cy="1799841"/>
              </a:xfrm>
              <a:prstGeom prst="rect">
                <a:avLst/>
              </a:prstGeom>
              <a:blipFill>
                <a:blip r:embed="rId3"/>
                <a:stretch>
                  <a:fillRect l="-57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EC36A6-9779-67CA-71FB-71CF5455A28E}"/>
              </a:ext>
            </a:extLst>
          </p:cNvPr>
          <p:cNvSpPr txBox="1">
            <a:spLocks/>
          </p:cNvSpPr>
          <p:nvPr/>
        </p:nvSpPr>
        <p:spPr>
          <a:xfrm>
            <a:off x="626110" y="5651839"/>
            <a:ext cx="10695531" cy="899921"/>
          </a:xfrm>
          <a:prstGeom prst="rect">
            <a:avLst/>
          </a:prstGeom>
          <a:ln w="38100">
            <a:solidFill>
              <a:schemeClr val="tx1"/>
            </a:solidFill>
            <a:prstDash val="dash"/>
          </a:ln>
        </p:spPr>
        <p:txBody>
          <a:bodyPr vert="horz" lIns="91440" tIns="91440" rIns="91440" bIns="9144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b="1" dirty="0"/>
              <a:t>Key Difference</a:t>
            </a:r>
            <a:r>
              <a:rPr lang="en-US" dirty="0"/>
              <a:t>:  In classical statistics θ is a constant; in Bayesian statistics θ is a random variable with its own distribution.</a:t>
            </a:r>
          </a:p>
        </p:txBody>
      </p:sp>
    </p:spTree>
    <p:extLst>
      <p:ext uri="{BB962C8B-B14F-4D97-AF65-F5344CB8AC3E}">
        <p14:creationId xmlns:p14="http://schemas.microsoft.com/office/powerpoint/2010/main" val="639792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008A1-53C1-AB99-2DA2-127C2CF9C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1405-1211-2E04-7569-E33285FC0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</a:rPr>
              <a:t>Unbiased Estimator — Definition</a:t>
            </a:r>
            <a:br>
              <a:rPr lang="en-US" sz="440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DE97E-4C89-CC4A-B14B-0600C7E2D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0" y="2049516"/>
                <a:ext cx="10545609" cy="1400531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An estimator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unbiased if its expectation equals the true parameter: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acc>
                        <m:accPr>
                          <m:chr m:val="̃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̂} =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̂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₁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ₙ)} = ∫···∫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̂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₁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ₙ)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₁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)···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ₙ|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₁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ₙ  =! 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DE97E-4C89-CC4A-B14B-0600C7E2D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0" y="2049516"/>
                <a:ext cx="10545609" cy="1400531"/>
              </a:xfrm>
              <a:blipFill>
                <a:blip r:embed="rId2"/>
                <a:stretch>
                  <a:fillRect l="-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F26A-A368-9BA4-AE20-9D034D03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6871586-BB4A-C29C-C2BF-BF9745CB7A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7983" y="3817088"/>
                <a:ext cx="5254705" cy="2705152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b="1" dirty="0"/>
                  <a:t>Classical Statistics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θ is a fixed constant
x₁,…,xₙ are </a:t>
                </a:r>
                <a:r>
                  <a:rPr lang="en-US" dirty="0" err="1"/>
                  <a:t>i.i.d.</a:t>
                </a:r>
                <a:r>
                  <a:rPr lang="en-US" dirty="0"/>
                  <a:t> with p(</a:t>
                </a:r>
                <a:r>
                  <a:rPr lang="en-US" dirty="0" err="1"/>
                  <a:t>x|θ</a:t>
                </a:r>
                <a:r>
                  <a:rPr lang="en-US" dirty="0"/>
                  <a:t>)
Unbiased </a:t>
                </a:r>
                <a:r>
                  <a:rPr lang="en-US" dirty="0" err="1"/>
                  <a:t>iff</a:t>
                </a:r>
                <a:r>
                  <a:rPr lang="en-US" dirty="0"/>
                  <a:t> E{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̂} = θ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6871586-BB4A-C29C-C2BF-BF9745CB7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83" y="3817088"/>
                <a:ext cx="5254705" cy="2705152"/>
              </a:xfrm>
              <a:prstGeom prst="rect">
                <a:avLst/>
              </a:prstGeom>
              <a:blipFill>
                <a:blip r:embed="rId3"/>
                <a:stretch>
                  <a:fillRect l="-115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BE8B8A1-684D-8CFD-24C7-1169F4F12A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9312" y="3817088"/>
                <a:ext cx="5254705" cy="2705152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b="1" dirty="0"/>
                  <a:t>Bayesian Statistics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θ is a random variable
x₁,…,xₙ are </a:t>
                </a:r>
                <a:r>
                  <a:rPr lang="en-US" dirty="0" err="1"/>
                  <a:t>i.i.d.</a:t>
                </a:r>
                <a:r>
                  <a:rPr lang="en-US" dirty="0"/>
                  <a:t> with p(</a:t>
                </a:r>
                <a:r>
                  <a:rPr lang="en-US" dirty="0" err="1"/>
                  <a:t>x|θ</a:t>
                </a:r>
                <a:r>
                  <a:rPr lang="en-US" dirty="0"/>
                  <a:t>)
Unbiased </a:t>
                </a:r>
                <a:r>
                  <a:rPr lang="en-US" dirty="0" err="1"/>
                  <a:t>iff</a:t>
                </a:r>
                <a:r>
                  <a:rPr lang="en-US" dirty="0"/>
                  <a:t> E{̂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} = E{θ}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BE8B8A1-684D-8CFD-24C7-1169F4F12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312" y="3817088"/>
                <a:ext cx="5254705" cy="2705152"/>
              </a:xfrm>
              <a:prstGeom prst="rect">
                <a:avLst/>
              </a:prstGeom>
              <a:blipFill>
                <a:blip r:embed="rId4"/>
                <a:stretch>
                  <a:fillRect l="-115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44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6E5E3-D0BC-DD81-6120-9043BDE70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D6CA1-4557-7926-663F-F4B2666F6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</a:rPr>
              <a:t>Cramér–Rao Bound</a:t>
            </a:r>
            <a:br>
              <a:rPr lang="en-US" sz="440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B8BF33-6748-1E3A-B1FA-A41EB7F3DF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0" y="1853248"/>
                <a:ext cx="10545609" cy="113799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The minimum variance achievable by any unbiased estimator: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𝑽𝒂𝒓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̂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} ≥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/ [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·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{(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𝝏𝜽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1" i="1" dirty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))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²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} ]   =  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/ [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·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 ]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B8BF33-6748-1E3A-B1FA-A41EB7F3DF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0" y="1853248"/>
                <a:ext cx="10545609" cy="1137996"/>
              </a:xfrm>
              <a:blipFill>
                <a:blip r:embed="rId2"/>
                <a:stretch>
                  <a:fillRect l="-231" b="-1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D0274-2F15-E4CB-8225-F325BC075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209B2994-AAD8-CD44-B06D-8A6BDD9E5432}"/>
              </a:ext>
            </a:extLst>
          </p:cNvPr>
          <p:cNvSpPr/>
          <p:nvPr/>
        </p:nvSpPr>
        <p:spPr>
          <a:xfrm>
            <a:off x="932898" y="3132094"/>
            <a:ext cx="10644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/>
              <a:t>Prerequisites:</a:t>
            </a:r>
            <a:endParaRPr lang="en-US" sz="20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7DC849C-DA24-37F3-6089-CB1FA62ED767}"/>
              </a:ext>
            </a:extLst>
          </p:cNvPr>
          <p:cNvSpPr/>
          <p:nvPr/>
        </p:nvSpPr>
        <p:spPr>
          <a:xfrm>
            <a:off x="838303" y="3543573"/>
            <a:ext cx="2069697" cy="1932317"/>
          </a:xfrm>
          <a:prstGeom prst="rect">
            <a:avLst/>
          </a:prstGeom>
          <a:solidFill>
            <a:srgbClr val="F0F4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CEA1C42-716C-C86B-6F67-35B32BA95397}"/>
              </a:ext>
            </a:extLst>
          </p:cNvPr>
          <p:cNvSpPr/>
          <p:nvPr/>
        </p:nvSpPr>
        <p:spPr>
          <a:xfrm>
            <a:off x="1687258" y="3589292"/>
            <a:ext cx="532208" cy="514015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D09BA8C9-7932-B62C-62D5-A99B73752BF2}"/>
              </a:ext>
            </a:extLst>
          </p:cNvPr>
          <p:cNvSpPr/>
          <p:nvPr/>
        </p:nvSpPr>
        <p:spPr>
          <a:xfrm>
            <a:off x="1687258" y="3596697"/>
            <a:ext cx="532208" cy="514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500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7838EBC2-64FF-3ACB-F5CF-994EC53A59AE}"/>
              </a:ext>
            </a:extLst>
          </p:cNvPr>
          <p:cNvSpPr/>
          <p:nvPr/>
        </p:nvSpPr>
        <p:spPr>
          <a:xfrm>
            <a:off x="932898" y="4149026"/>
            <a:ext cx="1833160" cy="1221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</a:rPr>
              <a:t>θ̂ is unbiased</a:t>
            </a:r>
            <a:endParaRPr lang="en-US" sz="200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2CBDF5F6-F143-8C02-66F2-2BBCC4CF3E8A}"/>
              </a:ext>
            </a:extLst>
          </p:cNvPr>
          <p:cNvSpPr/>
          <p:nvPr/>
        </p:nvSpPr>
        <p:spPr>
          <a:xfrm>
            <a:off x="2983252" y="3543573"/>
            <a:ext cx="2069697" cy="1932317"/>
          </a:xfrm>
          <a:prstGeom prst="rect">
            <a:avLst/>
          </a:prstGeom>
          <a:solidFill>
            <a:srgbClr val="F0F4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D567E53-C0C6-0B4D-C915-DD0490C1DC35}"/>
              </a:ext>
            </a:extLst>
          </p:cNvPr>
          <p:cNvSpPr/>
          <p:nvPr/>
        </p:nvSpPr>
        <p:spPr>
          <a:xfrm>
            <a:off x="3577613" y="3589293"/>
            <a:ext cx="532208" cy="514015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D4CED664-BC6E-D83A-CE8F-CCAE89CBEBBC}"/>
              </a:ext>
            </a:extLst>
          </p:cNvPr>
          <p:cNvSpPr/>
          <p:nvPr/>
        </p:nvSpPr>
        <p:spPr>
          <a:xfrm>
            <a:off x="3577613" y="3589293"/>
            <a:ext cx="532208" cy="514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500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13D4A37A-2728-04F2-07D6-EEAD450634CD}"/>
              </a:ext>
            </a:extLst>
          </p:cNvPr>
          <p:cNvSpPr/>
          <p:nvPr/>
        </p:nvSpPr>
        <p:spPr>
          <a:xfrm>
            <a:off x="3101520" y="4149037"/>
            <a:ext cx="1833160" cy="1221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</a:rPr>
              <a:t>θ̂ does not depend on unknown θ</a:t>
            </a:r>
            <a:endParaRPr lang="en-US" sz="2000" dirty="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D13DEDA2-36FC-FFB6-F64A-A45A21117D1D}"/>
              </a:ext>
            </a:extLst>
          </p:cNvPr>
          <p:cNvSpPr/>
          <p:nvPr/>
        </p:nvSpPr>
        <p:spPr>
          <a:xfrm>
            <a:off x="5107182" y="3543573"/>
            <a:ext cx="2069697" cy="1932317"/>
          </a:xfrm>
          <a:prstGeom prst="rect">
            <a:avLst/>
          </a:prstGeom>
          <a:solidFill>
            <a:srgbClr val="F0F4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27E88792-5639-9407-8D19-972687A88C7C}"/>
              </a:ext>
            </a:extLst>
          </p:cNvPr>
          <p:cNvSpPr/>
          <p:nvPr/>
        </p:nvSpPr>
        <p:spPr>
          <a:xfrm>
            <a:off x="5701543" y="3589293"/>
            <a:ext cx="532208" cy="514015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4FDB40B8-42F1-3F7B-D39E-6AF0055BA7C1}"/>
              </a:ext>
            </a:extLst>
          </p:cNvPr>
          <p:cNvSpPr/>
          <p:nvPr/>
        </p:nvSpPr>
        <p:spPr>
          <a:xfrm>
            <a:off x="5701543" y="3589293"/>
            <a:ext cx="532208" cy="514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500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1ACCC39B-6918-13D0-C784-A8AF4B87D16D}"/>
              </a:ext>
            </a:extLst>
          </p:cNvPr>
          <p:cNvSpPr/>
          <p:nvPr/>
        </p:nvSpPr>
        <p:spPr>
          <a:xfrm>
            <a:off x="5213232" y="4149025"/>
            <a:ext cx="1833160" cy="1221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</a:rPr>
              <a:t>E{θ̂²} &lt; ∞</a:t>
            </a:r>
            <a:endParaRPr lang="en-US" sz="200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1DD704C1-8311-34DD-52C0-E641078A0154}"/>
              </a:ext>
            </a:extLst>
          </p:cNvPr>
          <p:cNvSpPr/>
          <p:nvPr/>
        </p:nvSpPr>
        <p:spPr>
          <a:xfrm>
            <a:off x="7252131" y="3543573"/>
            <a:ext cx="2069697" cy="1932317"/>
          </a:xfrm>
          <a:prstGeom prst="rect">
            <a:avLst/>
          </a:prstGeom>
          <a:solidFill>
            <a:srgbClr val="F0F4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B028C6C2-3D44-147A-24FF-CF1C4A1CC6B2}"/>
              </a:ext>
            </a:extLst>
          </p:cNvPr>
          <p:cNvSpPr/>
          <p:nvPr/>
        </p:nvSpPr>
        <p:spPr>
          <a:xfrm>
            <a:off x="7846492" y="3589293"/>
            <a:ext cx="532208" cy="514015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FEE422B7-ED54-706D-712B-E59DE8897AE0}"/>
              </a:ext>
            </a:extLst>
          </p:cNvPr>
          <p:cNvSpPr/>
          <p:nvPr/>
        </p:nvSpPr>
        <p:spPr>
          <a:xfrm>
            <a:off x="7846492" y="3589293"/>
            <a:ext cx="532208" cy="514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500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DB440303-A54D-549B-A461-4562ACDCBCB6}"/>
              </a:ext>
            </a:extLst>
          </p:cNvPr>
          <p:cNvSpPr/>
          <p:nvPr/>
        </p:nvSpPr>
        <p:spPr>
          <a:xfrm>
            <a:off x="7375588" y="4235680"/>
            <a:ext cx="1833160" cy="11351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</a:rPr>
              <a:t>p(</a:t>
            </a:r>
            <a:r>
              <a:rPr lang="en-US" sz="2000" dirty="0" err="1">
                <a:solidFill>
                  <a:srgbClr val="1A1A2E"/>
                </a:solidFill>
              </a:rPr>
              <a:t>x|θ</a:t>
            </a:r>
            <a:r>
              <a:rPr lang="en-US" sz="2000" dirty="0">
                <a:solidFill>
                  <a:srgbClr val="1A1A2E"/>
                </a:solidFill>
              </a:rPr>
              <a:t>) is differentiable w.r.t. θ</a:t>
            </a:r>
            <a:endParaRPr lang="en-US" sz="2000" dirty="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96A79C8C-FE94-E904-D073-EE86064CFD1F}"/>
              </a:ext>
            </a:extLst>
          </p:cNvPr>
          <p:cNvSpPr/>
          <p:nvPr/>
        </p:nvSpPr>
        <p:spPr>
          <a:xfrm>
            <a:off x="9397085" y="3543573"/>
            <a:ext cx="2069697" cy="1932317"/>
          </a:xfrm>
          <a:prstGeom prst="rect">
            <a:avLst/>
          </a:prstGeom>
          <a:solidFill>
            <a:srgbClr val="F0F4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B122E0C4-7AD5-EA79-5F5D-0559B30905EB}"/>
              </a:ext>
            </a:extLst>
          </p:cNvPr>
          <p:cNvSpPr/>
          <p:nvPr/>
        </p:nvSpPr>
        <p:spPr>
          <a:xfrm>
            <a:off x="9991446" y="3589293"/>
            <a:ext cx="532208" cy="514015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DFA1C41D-612F-755A-A48C-FF5A48160D48}"/>
              </a:ext>
            </a:extLst>
          </p:cNvPr>
          <p:cNvSpPr/>
          <p:nvPr/>
        </p:nvSpPr>
        <p:spPr>
          <a:xfrm>
            <a:off x="9991446" y="3589293"/>
            <a:ext cx="532208" cy="514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500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A6F58F80-E9E5-B29E-9F1D-075CE05413CC}"/>
              </a:ext>
            </a:extLst>
          </p:cNvPr>
          <p:cNvSpPr/>
          <p:nvPr/>
        </p:nvSpPr>
        <p:spPr>
          <a:xfrm>
            <a:off x="9515353" y="4149025"/>
            <a:ext cx="1833160" cy="1221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</a:rPr>
              <a:t>Regularity conditions hold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56D5C9-4E59-ACF7-FF34-0BDBDD6439C3}"/>
              </a:ext>
            </a:extLst>
          </p:cNvPr>
          <p:cNvSpPr txBox="1"/>
          <p:nvPr/>
        </p:nvSpPr>
        <p:spPr>
          <a:xfrm>
            <a:off x="645129" y="5608262"/>
            <a:ext cx="10545609" cy="970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>
                <a:solidFill>
                  <a:srgbClr val="64748B"/>
                </a:solidFill>
                <a:latin typeface="+mj-lt"/>
                <a:ea typeface="+mj-ea"/>
                <a:cs typeface="+mj-cs"/>
              </a:defRPr>
            </a:lvl1pPr>
            <a:lvl2pPr marL="742950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CR-Efficient Estimator: An estimator whose variance equals this bound for all θ — the best possible unbiased estimator.</a:t>
            </a:r>
          </a:p>
        </p:txBody>
      </p:sp>
    </p:spTree>
    <p:extLst>
      <p:ext uri="{BB962C8B-B14F-4D97-AF65-F5344CB8AC3E}">
        <p14:creationId xmlns:p14="http://schemas.microsoft.com/office/powerpoint/2010/main" val="2631301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C098-B606-D3B8-31BA-C7E24EEDB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7DDF1-1C67-3C31-F80D-94ED285C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</a:rPr>
              <a:t>Fisher Information</a:t>
            </a:r>
            <a:br>
              <a:rPr lang="en-US" sz="4400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BB1FE-CF2B-CFB9-43DC-9580A0E84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6D32E14-81D4-8DCB-AD13-DA68E21290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7983" y="1853248"/>
                <a:ext cx="5254705" cy="4668992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FC000"/>
                    </a:solidFill>
                  </a:rPr>
                  <a:t>Definition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The score measures how much θ influences the density of “x”: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𝑺𝒄𝒐𝒓𝒆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𝝏𝜽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1" i="1" dirty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Fisher information J(θ) is the variance of the score: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i="1" dirty="0"/>
                  <a:t>Since E{score} = 0, variance = second moment.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6D32E14-81D4-8DCB-AD13-DA68E2129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83" y="1853248"/>
                <a:ext cx="5254705" cy="4668992"/>
              </a:xfrm>
              <a:prstGeom prst="rect">
                <a:avLst/>
              </a:prstGeom>
              <a:blipFill>
                <a:blip r:embed="rId2"/>
                <a:stretch>
                  <a:fillRect l="-115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2A4D5C9-5883-220C-C152-551D2F0201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9312" y="1853248"/>
                <a:ext cx="5254705" cy="4668992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0A500"/>
                    </a:solidFill>
                  </a:rPr>
                  <a:t>Key Properties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b="1" dirty="0"/>
                  <a:t>Expected Score = 0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𝜕𝜃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)}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b="1" dirty="0"/>
                  <a:t>CRB Link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 ≥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b="1" dirty="0"/>
                  <a:t>Multidimensional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 ≥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b="1" dirty="0"/>
                  <a:t>Matrix Form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{(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)(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)ᵀ}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2A4D5C9-5883-220C-C152-551D2F020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312" y="1853248"/>
                <a:ext cx="5254705" cy="4668992"/>
              </a:xfrm>
              <a:prstGeom prst="rect">
                <a:avLst/>
              </a:prstGeom>
              <a:blipFill>
                <a:blip r:embed="rId3"/>
                <a:stretch>
                  <a:fillRect l="-115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494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7C8D-4D79-1E2D-E89D-0B91CBC85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FFFF"/>
                </a:solidFill>
              </a:rPr>
              <a:t>Fisher Information</a:t>
            </a:r>
            <a:br>
              <a:rPr lang="en-US" sz="40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3C01B-74F1-C7A6-4DEA-B5337C032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112" y="2052918"/>
            <a:ext cx="4988548" cy="4195481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Suppose we flip  a coin 3 times to determine the probability of Head (</a:t>
            </a:r>
            <a:r>
              <a:rPr lang="en-US" b="1" i="1" dirty="0"/>
              <a:t>θ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We observe the coin and get 2 Heads and 1 Tail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459F5-5F85-94F3-4992-11E7172F9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A9DFCD-F8AF-E131-9E36-551D6AF79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659" y="1493442"/>
            <a:ext cx="6421996" cy="506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46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29C32-A331-DA42-2569-EF8929514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851C-4FFA-8981-535A-7D1A1A33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</a:rPr>
              <a:t>Consistency &amp; Bias-Variance Tradeoff</a:t>
            </a:r>
            <a:br>
              <a:rPr lang="en-US" sz="440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AB978A-22B6-2218-8FA2-6D50E07964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0" y="2104487"/>
                <a:ext cx="10545609" cy="127371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b="1" dirty="0"/>
                  <a:t>Consistent Estimator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	</m:t>
                      </m:r>
                      <m:func>
                        <m:func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b="1" i="1" dirty="0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⁡(||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 ̂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|| ≥ 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𝜺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𝒇𝒐𝒓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𝒂𝒍𝒍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𝜺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&gt;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b="1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i="1" dirty="0"/>
                  <a:t>Estimator converges to true value as N → ∞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AB978A-22B6-2218-8FA2-6D50E07964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0" y="2104487"/>
                <a:ext cx="10545609" cy="1273710"/>
              </a:xfrm>
              <a:blipFill>
                <a:blip r:embed="rId2"/>
                <a:stretch>
                  <a:fillRect l="-231" t="-2392" b="-4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2F48E-3849-7D8D-709C-298F6181D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69A042A5-2196-3420-8E9C-7C3F0CDF231E}"/>
              </a:ext>
            </a:extLst>
          </p:cNvPr>
          <p:cNvSpPr/>
          <p:nvPr/>
        </p:nvSpPr>
        <p:spPr>
          <a:xfrm>
            <a:off x="726265" y="3513083"/>
            <a:ext cx="3497845" cy="30453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008E6C0A-238C-5BAF-A31E-1B542E29CF91}"/>
              </a:ext>
            </a:extLst>
          </p:cNvPr>
          <p:cNvSpPr/>
          <p:nvPr/>
        </p:nvSpPr>
        <p:spPr>
          <a:xfrm>
            <a:off x="726265" y="3513083"/>
            <a:ext cx="3497845" cy="4572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F0B9C0D2-B686-99C0-0D1A-7B872125F782}"/>
              </a:ext>
            </a:extLst>
          </p:cNvPr>
          <p:cNvSpPr/>
          <p:nvPr/>
        </p:nvSpPr>
        <p:spPr>
          <a:xfrm>
            <a:off x="817705" y="3531371"/>
            <a:ext cx="326847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Bias</a:t>
            </a:r>
            <a:endParaRPr lang="en-US" sz="2000" dirty="0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DA50A302-3415-86C7-F33A-86EA2AB47E0C}"/>
              </a:ext>
            </a:extLst>
          </p:cNvPr>
          <p:cNvSpPr/>
          <p:nvPr/>
        </p:nvSpPr>
        <p:spPr>
          <a:xfrm>
            <a:off x="817705" y="4034291"/>
            <a:ext cx="3268479" cy="59436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0F33A39D-D58F-DDFD-F597-58FCF7E61989}"/>
              </a:ext>
            </a:extLst>
          </p:cNvPr>
          <p:cNvSpPr/>
          <p:nvPr/>
        </p:nvSpPr>
        <p:spPr>
          <a:xfrm>
            <a:off x="817705" y="4034291"/>
            <a:ext cx="326847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E2761"/>
                </a:solidFill>
              </a:rPr>
              <a:t>b(θ̂) = E{𝜃 ̃ } - θ</a:t>
            </a:r>
            <a:endParaRPr lang="en-US" sz="20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6B9C283C-39D7-C7F8-8116-A5F2928A8EF6}"/>
              </a:ext>
            </a:extLst>
          </p:cNvPr>
          <p:cNvSpPr/>
          <p:nvPr/>
        </p:nvSpPr>
        <p:spPr>
          <a:xfrm>
            <a:off x="863424" y="4701803"/>
            <a:ext cx="3153795" cy="1703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Systematic error. Remains even with infinite samples.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Cannot be reduced by adding more data.</a:t>
            </a:r>
            <a:endParaRPr lang="en-US" sz="2000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6A201047-7E2C-221A-EEB8-7D1C07995D75}"/>
              </a:ext>
            </a:extLst>
          </p:cNvPr>
          <p:cNvSpPr/>
          <p:nvPr/>
        </p:nvSpPr>
        <p:spPr>
          <a:xfrm>
            <a:off x="4310814" y="3513083"/>
            <a:ext cx="3497845" cy="30453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CDEA2791-B339-EF4D-4D1B-102B82E4A165}"/>
              </a:ext>
            </a:extLst>
          </p:cNvPr>
          <p:cNvSpPr/>
          <p:nvPr/>
        </p:nvSpPr>
        <p:spPr>
          <a:xfrm>
            <a:off x="4310814" y="3513083"/>
            <a:ext cx="3497845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F1E6453A-A27D-0AA8-69A1-D64705EE2B17}"/>
              </a:ext>
            </a:extLst>
          </p:cNvPr>
          <p:cNvSpPr/>
          <p:nvPr/>
        </p:nvSpPr>
        <p:spPr>
          <a:xfrm>
            <a:off x="4402254" y="3531371"/>
            <a:ext cx="326847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Variance</a:t>
            </a:r>
            <a:endParaRPr lang="en-US" sz="2000" dirty="0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C414E50F-A570-5C28-4551-68703DA24F81}"/>
              </a:ext>
            </a:extLst>
          </p:cNvPr>
          <p:cNvSpPr/>
          <p:nvPr/>
        </p:nvSpPr>
        <p:spPr>
          <a:xfrm>
            <a:off x="4402254" y="4034291"/>
            <a:ext cx="3268479" cy="59436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7">
                <a:extLst>
                  <a:ext uri="{FF2B5EF4-FFF2-40B4-BE49-F238E27FC236}">
                    <a16:creationId xmlns:a16="http://schemas.microsoft.com/office/drawing/2014/main" id="{0AE4CF3E-7EA4-F0E9-64EA-8C6247A22152}"/>
                  </a:ext>
                </a:extLst>
              </p:cNvPr>
              <p:cNvSpPr/>
              <p:nvPr/>
            </p:nvSpPr>
            <p:spPr>
              <a:xfrm>
                <a:off x="4402254" y="4034291"/>
                <a:ext cx="3268479" cy="594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2000" b="1" i="1" dirty="0">
                    <a:solidFill>
                      <a:srgbClr val="1E2761"/>
                    </a:solidFill>
                  </a:rPr>
                  <a:t>Var{θ̂} = E{(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000" b="1" i="1" smtClean="0">
                            <a:solidFill>
                              <a:srgbClr val="1E276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solidFill>
                              <a:srgbClr val="1E276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2000" b="1" i="1">
                        <a:solidFill>
                          <a:srgbClr val="1E276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i="1" dirty="0">
                    <a:solidFill>
                      <a:srgbClr val="1E2761"/>
                    </a:solidFill>
                  </a:rPr>
                  <a:t>- E{θ̂})²}</a:t>
                </a:r>
                <a:endParaRPr lang="en-US" sz="2000" dirty="0"/>
              </a:p>
            </p:txBody>
          </p:sp>
        </mc:Choice>
        <mc:Fallback xmlns="">
          <p:sp>
            <p:nvSpPr>
              <p:cNvPr id="15" name="Text 17">
                <a:extLst>
                  <a:ext uri="{FF2B5EF4-FFF2-40B4-BE49-F238E27FC236}">
                    <a16:creationId xmlns:a16="http://schemas.microsoft.com/office/drawing/2014/main" id="{0AE4CF3E-7EA4-F0E9-64EA-8C6247A221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254" y="4034291"/>
                <a:ext cx="3268479" cy="594360"/>
              </a:xfrm>
              <a:prstGeom prst="rect">
                <a:avLst/>
              </a:prstGeom>
              <a:blipFill>
                <a:blip r:embed="rId3"/>
                <a:stretch>
                  <a:fillRect b="-309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18">
            <a:extLst>
              <a:ext uri="{FF2B5EF4-FFF2-40B4-BE49-F238E27FC236}">
                <a16:creationId xmlns:a16="http://schemas.microsoft.com/office/drawing/2014/main" id="{2515EAD1-27F3-566A-2BF3-8CD770A1B797}"/>
              </a:ext>
            </a:extLst>
          </p:cNvPr>
          <p:cNvSpPr/>
          <p:nvPr/>
        </p:nvSpPr>
        <p:spPr>
          <a:xfrm>
            <a:off x="4447973" y="4701802"/>
            <a:ext cx="3153795" cy="1703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Stochastic error. Decreases with more samples.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Can be reduced by increasing N.</a:t>
            </a:r>
            <a:endParaRPr lang="en-US" sz="2000" dirty="0"/>
          </a:p>
        </p:txBody>
      </p:sp>
      <p:sp>
        <p:nvSpPr>
          <p:cNvPr id="17" name="Shape 19">
            <a:extLst>
              <a:ext uri="{FF2B5EF4-FFF2-40B4-BE49-F238E27FC236}">
                <a16:creationId xmlns:a16="http://schemas.microsoft.com/office/drawing/2014/main" id="{E448B364-E6F0-E519-7864-53C8405038C6}"/>
              </a:ext>
            </a:extLst>
          </p:cNvPr>
          <p:cNvSpPr/>
          <p:nvPr/>
        </p:nvSpPr>
        <p:spPr>
          <a:xfrm>
            <a:off x="7884859" y="3513083"/>
            <a:ext cx="3497845" cy="30453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025BD3C5-80EA-8A86-9C25-8ACCD69A4075}"/>
              </a:ext>
            </a:extLst>
          </p:cNvPr>
          <p:cNvSpPr/>
          <p:nvPr/>
        </p:nvSpPr>
        <p:spPr>
          <a:xfrm>
            <a:off x="7884859" y="3513083"/>
            <a:ext cx="3497845" cy="45720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A930BF87-E8E5-CB97-BF8B-1B8E26DDD785}"/>
              </a:ext>
            </a:extLst>
          </p:cNvPr>
          <p:cNvSpPr/>
          <p:nvPr/>
        </p:nvSpPr>
        <p:spPr>
          <a:xfrm>
            <a:off x="7976299" y="3531371"/>
            <a:ext cx="326847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MSE</a:t>
            </a:r>
            <a:endParaRPr lang="en-US" sz="2000" dirty="0"/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39C287A2-A2A2-8F85-F055-D4EDEBD60E8C}"/>
              </a:ext>
            </a:extLst>
          </p:cNvPr>
          <p:cNvSpPr/>
          <p:nvPr/>
        </p:nvSpPr>
        <p:spPr>
          <a:xfrm>
            <a:off x="7976299" y="4034291"/>
            <a:ext cx="3268479" cy="59436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23">
                <a:extLst>
                  <a:ext uri="{FF2B5EF4-FFF2-40B4-BE49-F238E27FC236}">
                    <a16:creationId xmlns:a16="http://schemas.microsoft.com/office/drawing/2014/main" id="{38A45C35-7B4F-AD99-B4E8-5364363A4D8F}"/>
                  </a:ext>
                </a:extLst>
              </p:cNvPr>
              <p:cNvSpPr/>
              <p:nvPr/>
            </p:nvSpPr>
            <p:spPr>
              <a:xfrm>
                <a:off x="7976299" y="4034291"/>
                <a:ext cx="3268479" cy="594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2000" b="1" i="1" dirty="0">
                    <a:solidFill>
                      <a:srgbClr val="1E2761"/>
                    </a:solidFill>
                  </a:rPr>
                  <a:t>E{(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000" b="1" i="1">
                            <a:solidFill>
                              <a:srgbClr val="1E276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solidFill>
                              <a:srgbClr val="1E276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2000" b="1" i="1">
                        <a:solidFill>
                          <a:srgbClr val="1E276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i="1" dirty="0">
                    <a:solidFill>
                      <a:srgbClr val="1E2761"/>
                    </a:solidFill>
                  </a:rPr>
                  <a:t>- θ)²} = b(θ̂)² + Var{θ̂}</a:t>
                </a:r>
                <a:endParaRPr lang="en-US" sz="2000" dirty="0"/>
              </a:p>
            </p:txBody>
          </p:sp>
        </mc:Choice>
        <mc:Fallback xmlns="">
          <p:sp>
            <p:nvSpPr>
              <p:cNvPr id="21" name="Text 23">
                <a:extLst>
                  <a:ext uri="{FF2B5EF4-FFF2-40B4-BE49-F238E27FC236}">
                    <a16:creationId xmlns:a16="http://schemas.microsoft.com/office/drawing/2014/main" id="{38A45C35-7B4F-AD99-B4E8-5364363A4D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299" y="4034291"/>
                <a:ext cx="3268479" cy="594360"/>
              </a:xfrm>
              <a:prstGeom prst="rect">
                <a:avLst/>
              </a:prstGeom>
              <a:blipFill>
                <a:blip r:embed="rId4"/>
                <a:stretch>
                  <a:fillRect t="-14433" b="-2886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24">
            <a:extLst>
              <a:ext uri="{FF2B5EF4-FFF2-40B4-BE49-F238E27FC236}">
                <a16:creationId xmlns:a16="http://schemas.microsoft.com/office/drawing/2014/main" id="{4E73ACA2-8C70-B5F7-8D4F-8B398221BE29}"/>
              </a:ext>
            </a:extLst>
          </p:cNvPr>
          <p:cNvSpPr/>
          <p:nvPr/>
        </p:nvSpPr>
        <p:spPr>
          <a:xfrm>
            <a:off x="8022018" y="4701803"/>
            <a:ext cx="3153795" cy="1856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Mean Squared Error = bias² + variance. A biased low-variance estimator can beat an unbiased high-variance one!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25265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D6E55-036B-0E08-2276-E2E384008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46EB4-E8B8-8A2A-110D-4CFDC99A7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FFFF"/>
                </a:solidFill>
              </a:rPr>
              <a:t>Example: Empirical Mean Estimator</a:t>
            </a:r>
            <a:br>
              <a:rPr lang="en-US" sz="400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6B3A86-35B9-622D-8B9F-C23A0413FD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0" y="1853248"/>
                <a:ext cx="10545609" cy="4552034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The Estimator 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i="1" dirty="0"/>
                  <a:t> 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i="1" dirty="0"/>
                  <a:t>The expectation of this estimator is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 = 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{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} 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i="1" dirty="0"/>
                  <a:t>  </a:t>
                </a:r>
              </a:p>
              <a:p>
                <a:pPr marL="0" indent="0">
                  <a:buNone/>
                </a:pPr>
                <a:r>
                  <a:rPr lang="en-US" i="1" dirty="0"/>
                  <a:t>	The Expectation is unbiased </a:t>
                </a:r>
                <a:r>
                  <a:rPr lang="en-US" sz="2400" b="1" i="1" dirty="0">
                    <a:solidFill>
                      <a:srgbClr val="FFC000"/>
                    </a:solidFill>
                  </a:rPr>
                  <a:t>✓ </a:t>
                </a:r>
                <a:endParaRPr lang="en-US" i="1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i="1" dirty="0"/>
                  <a:t>Variance of the Estimator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{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{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	The Variance decrease when N increase</a:t>
                </a:r>
                <a:r>
                  <a:rPr lang="en-US" i="1" dirty="0">
                    <a:solidFill>
                      <a:srgbClr val="1A1A2E"/>
                    </a:solidFill>
                  </a:rPr>
                  <a:t> </a:t>
                </a:r>
                <a:r>
                  <a:rPr lang="en-US" sz="2400" b="1" i="1" dirty="0">
                    <a:solidFill>
                      <a:srgbClr val="FFC000"/>
                    </a:solidFill>
                  </a:rPr>
                  <a:t>✓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6B3A86-35B9-622D-8B9F-C23A0413FD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0" y="1853248"/>
                <a:ext cx="10545609" cy="4552034"/>
              </a:xfrm>
              <a:blipFill>
                <a:blip r:embed="rId2"/>
                <a:stretch>
                  <a:fillRect l="-289" t="-9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4B642-BFF7-AE4F-EAB0-98FCE7E10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450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83FBC-6C7B-8F23-1BEF-1411FA298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FFFF"/>
                </a:solidFill>
              </a:rPr>
              <a:t>Bias-Variance Tradeoff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5917723-1045-44A4-390B-BD826954F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3686" y="1697995"/>
            <a:ext cx="10544628" cy="496961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C2003-9EA4-5EFD-0FA4-48BC5A86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505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882E4-B9D5-A959-D3F4-7A4A2D2E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2073B2-1571-B084-3385-7BA39977A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Maximum Likelihood Estimation (MLE)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69FFE7-D7FA-A9A4-2C1A-BBF849984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345F8-D36B-D359-BDFE-B650190CE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7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C649D-CACE-0B29-2D9A-B9CC139A1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DDF6B-D64C-EACB-F318-326B8249A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84125"/>
          </a:xfrm>
        </p:spPr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</a:rPr>
              <a:t>Likelihood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05CBF-45F4-2918-7B4E-1A42239653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1" y="1702341"/>
                <a:ext cx="5801876" cy="477628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b="1" dirty="0">
                    <a:solidFill>
                      <a:srgbClr val="FFFFFF"/>
                    </a:solidFill>
                  </a:rPr>
                  <a:t>Likelihood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Given xᵢ (</a:t>
                </a:r>
                <a:r>
                  <a:rPr lang="en-US" dirty="0" err="1"/>
                  <a:t>i</a:t>
                </a:r>
                <a:r>
                  <a:rPr lang="en-US" dirty="0"/>
                  <a:t>=1,…,N) </a:t>
                </a:r>
                <a:r>
                  <a:rPr lang="en-US" dirty="0" err="1"/>
                  <a:t>i.i.d.</a:t>
                </a:r>
                <a:r>
                  <a:rPr lang="en-US" dirty="0"/>
                  <a:t> with p(</a:t>
                </a:r>
                <a:r>
                  <a:rPr lang="en-US" dirty="0" err="1"/>
                  <a:t>x|θ</a:t>
                </a:r>
                <a:r>
                  <a:rPr lang="en-US" dirty="0"/>
                  <a:t>), dataset D = {x₁,…,xₙ}: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b="1" dirty="0"/>
                  <a:t>Likelihood</a:t>
                </a:r>
                <a:r>
                  <a:rPr lang="en-US" dirty="0"/>
                  <a:t> function — product of densities over all samples in D.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) = ∏ </m:t>
                    </m:r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err="1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err="1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b="1" dirty="0"/>
                  <a:t>Log-likelihood</a:t>
                </a:r>
                <a:r>
                  <a:rPr lang="en-US" dirty="0"/>
                  <a:t> — sums instead of products; same extremal points (monotone log).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b="1" i="0" dirty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b="1" i="1" dirty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1" i="1" dirty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1" i="1" dirty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b="1" i="1" dirty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err="1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err="1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dirty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05CBF-45F4-2918-7B4E-1A42239653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1" y="1702341"/>
                <a:ext cx="5801876" cy="4776280"/>
              </a:xfrm>
              <a:blipFill>
                <a:blip r:embed="rId2"/>
                <a:stretch>
                  <a:fillRect l="-420" r="-19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32683-9D8F-2C88-2588-D3D63355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99643C-9E0F-05C8-BBDD-D825853EB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06" y="1536843"/>
            <a:ext cx="5650149" cy="518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9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AE7F4-603D-4FBF-4F74-9D6DC9E66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E2320-438E-5875-2292-534389DB4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84125"/>
          </a:xfrm>
        </p:spPr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</a:rPr>
              <a:t>Likelihood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AEE79-0238-5C32-2AE1-7AC5DAD671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1" y="1536842"/>
                <a:ext cx="5801876" cy="5184843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b="1" dirty="0"/>
                  <a:t>ML Estimator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The ML estimator maximizes the likelihood: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100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100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e>
                        <m:sub>
                          <m:r>
                            <a:rPr lang="en-US" sz="2100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𝒎𝒍</m:t>
                          </m:r>
                          <m:r>
                            <a:rPr lang="en-US" sz="2100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100" b="1" i="1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00" b="1" i="1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sz="2100" b="1" i="1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func>
                        <m:funcPr>
                          <m:ctrlPr>
                            <a:rPr lang="en-US" sz="2100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100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100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𝒂𝒓𝒈𝒎𝒂𝒙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sz="2100" b="1" i="1" dirty="0">
                                  <a:solidFill>
                                    <a:srgbClr val="F0A500"/>
                                  </a:solidFill>
                                </a:rPr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US" sz="2100" b="1" i="1" dirty="0">
                                  <a:solidFill>
                                    <a:srgbClr val="F0A500"/>
                                  </a:solidFill>
                                </a:rPr>
                                <m:t>∈ </m:t>
                              </m:r>
                              <m:r>
                                <m:rPr>
                                  <m:nor/>
                                </m:rPr>
                                <a:rPr lang="en-US" sz="2100" b="1" i="1" dirty="0">
                                  <a:solidFill>
                                    <a:srgbClr val="F0A500"/>
                                  </a:solidFill>
                                </a:rPr>
                                <m:t>Θ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∏"/>
                              <m:limLoc m:val="subSup"/>
                              <m:supHide m:val="on"/>
                              <m:ctrlPr>
                                <a:rPr lang="en-US" sz="2100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sz="2100" b="1" i="1" dirty="0">
                                  <a:solidFill>
                                    <a:srgbClr val="F0A500"/>
                                  </a:solidFill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sz="2100" b="1" i="1" dirty="0">
                                  <a:solidFill>
                                    <a:srgbClr val="F0A500"/>
                                  </a:solidFill>
                                </a:rPr>
                                <m:t>∈ </m:t>
                              </m:r>
                              <m:r>
                                <m:rPr>
                                  <m:nor/>
                                </m:rPr>
                                <a:rPr lang="en-US" sz="2100" b="1" i="1" dirty="0">
                                  <a:solidFill>
                                    <a:srgbClr val="F0A500"/>
                                  </a:solidFill>
                                </a:rPr>
                                <m:t>D</m:t>
                              </m:r>
                            </m:sub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sz="2100" b="1" i="1" dirty="0">
                                  <a:solidFill>
                                    <a:srgbClr val="F0A500"/>
                                  </a:solidFill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sz="2100" b="1" i="1" dirty="0">
                                  <a:solidFill>
                                    <a:srgbClr val="F0A500"/>
                                  </a:solidFill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2100" b="1" i="1" dirty="0">
                                  <a:solidFill>
                                    <a:srgbClr val="F0A500"/>
                                  </a:solidFill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sz="2100" b="1" i="1" dirty="0">
                                  <a:solidFill>
                                    <a:srgbClr val="F0A500"/>
                                  </a:solidFill>
                                </a:rPr>
                                <m:t>|</m:t>
                              </m:r>
                              <m:r>
                                <m:rPr>
                                  <m:nor/>
                                </m:rPr>
                                <a:rPr lang="en-US" sz="2100" b="1" i="1" dirty="0">
                                  <a:solidFill>
                                    <a:srgbClr val="F0A500"/>
                                  </a:solidFill>
                                </a:rPr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US" sz="2100" b="1" i="1" dirty="0">
                                  <a:solidFill>
                                    <a:srgbClr val="F0A500"/>
                                  </a:solidFill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100" b="1" i="1" dirty="0">
                  <a:solidFill>
                    <a:srgbClr val="F0A5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𝒂𝒓𝒈𝒎𝒂𝒙</m:t>
                      </m:r>
                      <m:r>
                        <a:rPr lang="en-US" b="1" i="1" dirty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dirty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US" b="1" i="1" dirty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1" i="1" dirty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b="1" i="1" dirty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b="1" i="1" dirty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b="1" i="1" dirty="0" smtClean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 smtClean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err="1" smtClean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 dirty="0" err="1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1" i="1" dirty="0" smtClean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100" b="1" i="1" dirty="0">
                  <a:solidFill>
                    <a:srgbClr val="F0A500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b="1" dirty="0"/>
                  <a:t>Necessary Condition (smooth functions):</a:t>
                </a:r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100" b="1" i="1" dirty="0">
                              <a:solidFill>
                                <a:srgbClr val="F0A500"/>
                              </a:solidFill>
                            </a:rPr>
                            <m:t>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100" b="1" i="1" dirty="0">
                              <a:solidFill>
                                <a:srgbClr val="F0A500"/>
                              </a:solidFill>
                            </a:rPr>
                            <m:t>θ</m:t>
                          </m:r>
                        </m:sub>
                      </m:sSub>
                      <m:r>
                        <a:rPr lang="en-US" sz="2100" b="1" i="1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00" b="1" i="1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sz="2100" b="1" i="1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100" b="1" i="1" dirty="0">
                          <a:solidFill>
                            <a:srgbClr val="F0A500"/>
                          </a:solidFill>
                        </a:rPr>
                        <m:t>θ</m:t>
                      </m:r>
                      <m:r>
                        <m:rPr>
                          <m:nor/>
                        </m:rPr>
                        <a:rPr lang="en-US" sz="2100" b="1" i="1" dirty="0">
                          <a:solidFill>
                            <a:srgbClr val="F0A500"/>
                          </a:solidFill>
                        </a:rPr>
                        <m:t>) 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100" b="1" i="1" dirty="0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100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100" b="1" i="1" dirty="0">
                                  <a:solidFill>
                                    <a:srgbClr val="F0A500"/>
                                  </a:solidFill>
                                </a:rPr>
                                <m:t>∇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100" b="1" i="1" dirty="0">
                                  <a:solidFill>
                                    <a:srgbClr val="F0A500"/>
                                  </a:solidFill>
                                </a:rPr>
                                <m:t>θ</m:t>
                              </m:r>
                            </m:sub>
                          </m:sSub>
                        </m:e>
                      </m:nary>
                      <m:r>
                        <a:rPr lang="en-US" sz="2100" b="1" i="1" dirty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100" b="1" i="1" dirty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sz="2100" b="1" i="1" dirty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100" b="1" i="1" dirty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100" b="1" i="1" dirty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100" b="1" i="1" dirty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100" b="1" i="1" dirty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2100" b="1" i="1" dirty="0">
                          <a:solidFill>
                            <a:srgbClr val="F0A500"/>
                          </a:solidFill>
                        </a:rPr>
                        <m:t>θ</m:t>
                      </m:r>
                      <m:r>
                        <m:rPr>
                          <m:nor/>
                        </m:rPr>
                        <a:rPr lang="en-US" sz="2100" b="1" i="1" dirty="0" smtClean="0">
                          <a:solidFill>
                            <a:srgbClr val="F0A5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100" b="1" i="1" dirty="0">
                          <a:solidFill>
                            <a:srgbClr val="F0A500"/>
                          </a:solidFill>
                        </a:rPr>
                        <m:t>)</m:t>
                      </m:r>
                      <m:r>
                        <m:rPr>
                          <m:nor/>
                        </m:rPr>
                        <a:rPr lang="en-US" sz="2100" b="1" i="1" dirty="0" smtClean="0">
                          <a:solidFill>
                            <a:srgbClr val="F0A500"/>
                          </a:solidFill>
                        </a:rPr>
                        <m:t> =! </m:t>
                      </m:r>
                      <m:r>
                        <m:rPr>
                          <m:nor/>
                        </m:rPr>
                        <a:rPr lang="en-US" sz="2100" b="1" i="1" dirty="0" smtClean="0">
                          <a:solidFill>
                            <a:srgbClr val="F0A500"/>
                          </a:solidFill>
                        </a:rPr>
                        <m:t>0</m:t>
                      </m:r>
                    </m:oMath>
                  </m:oMathPara>
                </a14:m>
                <a:endParaRPr lang="en-US" sz="2100" b="1" i="1" dirty="0">
                  <a:solidFill>
                    <a:srgbClr val="F0A500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Set gradient of log-likelihood to zero and solve for θ.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300" i="1" dirty="0"/>
                  <a:t>Why </a:t>
                </a:r>
                <a:r>
                  <a:rPr lang="en-US" sz="2300" b="1" i="1" dirty="0"/>
                  <a:t>log-likelihood</a:t>
                </a:r>
                <a:r>
                  <a:rPr lang="en-US" sz="2300" i="1" dirty="0"/>
                  <a:t>? Sums are </a:t>
                </a:r>
                <a:r>
                  <a:rPr lang="en-US" sz="2300" b="1" i="1" dirty="0"/>
                  <a:t>easier</a:t>
                </a:r>
                <a:r>
                  <a:rPr lang="en-US" sz="2300" i="1" dirty="0"/>
                  <a:t> to differentiate than products!</a:t>
                </a:r>
                <a:endParaRPr lang="en-US" sz="23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AEE79-0238-5C32-2AE1-7AC5DAD67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1" y="1536842"/>
                <a:ext cx="5801876" cy="5184843"/>
              </a:xfrm>
              <a:blipFill>
                <a:blip r:embed="rId2"/>
                <a:stretch>
                  <a:fillRect l="-2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71522-507D-54AE-7364-F7D4458CE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428DC7-0057-2814-0358-EE8154309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06" y="1536843"/>
            <a:ext cx="5650149" cy="518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25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3B899-58C3-C827-0822-2E3150EF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4D2D1-B98E-5728-1888-59A8EB3CF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141863" cy="1400530"/>
          </a:xfrm>
        </p:spPr>
        <p:txBody>
          <a:bodyPr/>
          <a:lstStyle/>
          <a:p>
            <a:r>
              <a:rPr lang="en-US" sz="4000" b="1" dirty="0">
                <a:solidFill>
                  <a:srgbClr val="FFFFFF"/>
                </a:solidFill>
              </a:rPr>
              <a:t>MLE for Gaussian: </a:t>
            </a:r>
            <a:r>
              <a:rPr lang="en-US" sz="3800" b="1" dirty="0">
                <a:solidFill>
                  <a:srgbClr val="FFFFFF"/>
                </a:solidFill>
              </a:rPr>
              <a:t>Estimating μ  (Σ known)</a:t>
            </a:r>
            <a:br>
              <a:rPr lang="en-US" sz="440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9C2253-4B68-8F2C-7281-33FED593F3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1" y="1853248"/>
                <a:ext cx="6485244" cy="4552034"/>
              </a:xfrm>
              <a:ln w="38100">
                <a:solidFill>
                  <a:schemeClr val="tx1"/>
                </a:solidFill>
                <a:prstDash val="dash"/>
              </a:ln>
            </p:spPr>
            <p:txBody>
              <a:bodyPr tIns="91440" bIns="91440"/>
              <a:lstStyle/>
              <a:p>
                <a:pPr algn="ctr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b="1" dirty="0"/>
                  <a:t>Setup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ₖ ~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with μ unknown,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𝑘𝑛𝑜𝑤𝑛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ₖ) = −½(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ₖ−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)ᵀ</m:t>
                      </m:r>
                      <m:r>
                        <m:rPr>
                          <m:sty m:val="p"/>
                        </m:rPr>
                        <a:rPr lang="en-US" i="0" dirty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⁻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¹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ₖ−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US" i="1" dirty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− ½ </m:t>
                      </m:r>
                      <m:r>
                        <m:rPr>
                          <m:sty m:val="p"/>
                        </m:rPr>
                        <a:rPr lang="en-US" i="1" dirty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m:rPr>
                          <m:sty m:val="p"/>
                        </m:rPr>
                        <a:rPr lang="en-US" i="1" dirty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m:rPr>
                          <m:sty m:val="p"/>
                        </m:rPr>
                        <a:rPr lang="en-US" i="0" dirty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Taking gradient with respect to μ: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 dirty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ₖ) = </m:t>
                      </m:r>
                      <m:r>
                        <m:rPr>
                          <m:sty m:val="p"/>
                        </m:rPr>
                        <a:rPr lang="en-US" i="0" dirty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⁻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¹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ₖ −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Applying necessary condition :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ᵢ 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⁻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ₖ −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 ⟺  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ₖ −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9C2253-4B68-8F2C-7281-33FED593F3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1" y="1853248"/>
                <a:ext cx="6485244" cy="4552034"/>
              </a:xfrm>
              <a:blipFill>
                <a:blip r:embed="rId2"/>
                <a:stretch>
                  <a:fillRect l="-93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17697-FF0B-0BF7-5F5F-2B1DAD5D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36B3A6-4892-74FB-8C6E-5DBFE72B2658}"/>
              </a:ext>
            </a:extLst>
          </p:cNvPr>
          <p:cNvSpPr txBox="1">
            <a:spLocks/>
          </p:cNvSpPr>
          <p:nvPr/>
        </p:nvSpPr>
        <p:spPr>
          <a:xfrm>
            <a:off x="7217923" y="1853248"/>
            <a:ext cx="4327966" cy="4552034"/>
          </a:xfrm>
          <a:prstGeom prst="rect">
            <a:avLst/>
          </a:prstGeom>
          <a:ln w="38100">
            <a:solidFill>
              <a:schemeClr val="tx1"/>
            </a:solidFill>
            <a:prstDash val="dash"/>
          </a:ln>
        </p:spPr>
        <p:txBody>
          <a:bodyPr vert="horz" lIns="91440" tIns="91440" rIns="91440" bIns="9144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0A500"/>
                </a:solidFill>
              </a:rPr>
              <a:t>Result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i="1" dirty="0">
                <a:solidFill>
                  <a:srgbClr val="F0A500"/>
                </a:solidFill>
              </a:rPr>
              <a:t>μ̂ₘₗ = (1/N) Σₖ xₖ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ML estimator for the mean is the empirical average — regardless of Σ!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This result holds for many distribution families.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✓ Matches empirical mean!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427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4948-345F-2BB7-373F-BFCBF6979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AA08-BAA1-C98C-B2A7-25EA74E9B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b="1" dirty="0">
                <a:solidFill>
                  <a:srgbClr val="FFFFFF"/>
                </a:solidFill>
              </a:rPr>
              <a:t>MLE for Gaussian: Estimating μ and σ²</a:t>
            </a:r>
            <a:br>
              <a:rPr lang="en-US" sz="440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A08C4-7187-6141-B0AB-492265AFEC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0" y="1721796"/>
                <a:ext cx="10545609" cy="1789889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Now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)ᵀ :=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²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)ᵀ </m:t>
                    </m:r>
                  </m:oMath>
                </a14:m>
                <a:r>
                  <a:rPr lang="en-US" dirty="0"/>
                  <a:t>— both parameters unknown. Scalar case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ₖ ~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²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A08C4-7187-6141-B0AB-492265AFEC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0" y="1721796"/>
                <a:ext cx="10545609" cy="1789889"/>
              </a:xfrm>
              <a:blipFill>
                <a:blip r:embed="rId2"/>
                <a:stretch>
                  <a:fillRect l="-231" t="-1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0772A-D970-7074-A96F-0E2A2597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BCDB4D5-DA90-DCF5-FE11-774BA02569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5131" y="3667328"/>
                <a:ext cx="5450869" cy="1926076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algn="ctr">
                  <a:buFont typeface="Wingdings" panose="05000000000000000000" pitchFamily="2" charset="2"/>
                  <a:buChar char="§"/>
                </a:pPr>
                <a:r>
                  <a:rPr lang="en-US" b="1" dirty="0"/>
                  <a:t>θ₁ = μ̂ₘₗ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𝒎𝒍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n-US" b="1" i="1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1" dirty="0">
                  <a:solidFill>
                    <a:srgbClr val="F0A500"/>
                  </a:solidFill>
                </a:endParaRPr>
              </a:p>
              <a:p>
                <a:pPr algn="ctr">
                  <a:buFont typeface="Wingdings" panose="05000000000000000000" pitchFamily="2" charset="2"/>
                  <a:buChar char="§"/>
                </a:pPr>
                <a:r>
                  <a:rPr lang="en-US" dirty="0"/>
                  <a:t>Same as before — empirical mean.</a:t>
                </a:r>
              </a:p>
              <a:p>
                <a:pPr algn="ctr"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BCDB4D5-DA90-DCF5-FE11-774BA0256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31" y="3667328"/>
                <a:ext cx="5450869" cy="19260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76A645-A001-B321-7A8F-C30CC4AD22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96382" y="3667328"/>
                <a:ext cx="5450869" cy="1926076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algn="ctr">
                  <a:buFont typeface="Wingdings" panose="05000000000000000000" pitchFamily="2" charset="2"/>
                  <a:buChar char="§"/>
                </a:pPr>
                <a:r>
                  <a:rPr lang="en-US" b="1" dirty="0"/>
                  <a:t>θ₂ = σ̂²ₘₗ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</m:e>
                          </m:acc>
                        </m:e>
                        <m:sub>
                          <m:r>
                            <a:rPr lang="en-US" b="1" i="1" smtClean="0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𝒎𝒍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b="1" i="1" smtClean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b="1" i="1" smtClean="0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smtClean="0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b="1" i="1" smtClean="0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smtClean="0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F0A5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F0A5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F0A5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F0A5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F0A5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F0A5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𝒎𝒍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1" i="1" dirty="0">
                  <a:solidFill>
                    <a:srgbClr val="F0A500"/>
                  </a:solidFill>
                </a:endParaRPr>
              </a:p>
              <a:p>
                <a:pPr algn="ctr">
                  <a:buFont typeface="Wingdings" panose="05000000000000000000" pitchFamily="2" charset="2"/>
                  <a:buChar char="§"/>
                </a:pPr>
                <a:r>
                  <a:rPr lang="en-US" dirty="0"/>
                  <a:t>Biased! True unbiased version uses (N-1).</a:t>
                </a:r>
              </a:p>
              <a:p>
                <a:pPr algn="ctr"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76A645-A001-B321-7A8F-C30CC4AD2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382" y="3667328"/>
                <a:ext cx="5450869" cy="1926076"/>
              </a:xfrm>
              <a:prstGeom prst="rect">
                <a:avLst/>
              </a:prstGeom>
              <a:blipFill>
                <a:blip r:embed="rId4"/>
                <a:stretch>
                  <a:fillRect r="-666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67FFC492-37F4-3969-2026-2D6360803D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5131" y="5768501"/>
                <a:ext cx="11002120" cy="793769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solidFill>
                                  <a:srgbClr val="F0A5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F0A5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e>
                        </m:acc>
                      </m:e>
                      <m:sub>
                        <m:r>
                          <a:rPr lang="en-US" b="1" i="1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  <m:t>𝒎𝒍</m:t>
                        </m:r>
                      </m:sub>
                      <m:sup>
                        <m:r>
                          <a:rPr lang="en-US" b="1" i="1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b="1" i="1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is biased! Unbiased estimator: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1" i="1" smtClean="0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en-US" b="1" i="1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 smtClean="0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bSup>
                      <m:sSubSupPr>
                        <m:ctrlPr>
                          <a:rPr lang="en-US" b="1" i="1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solidFill>
                                  <a:srgbClr val="F0A5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F0A5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e>
                        </m:acc>
                      </m:e>
                      <m:sub>
                        <m:r>
                          <a:rPr lang="en-US" b="1" i="1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  <m:t>𝒎𝒍</m:t>
                        </m:r>
                      </m:sub>
                      <m:sup>
                        <m:r>
                          <a:rPr lang="en-US" b="1" i="1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dirty="0"/>
                  <a:t>. Both estimators are consistent.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67FFC492-37F4-3969-2026-2D6360803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31" y="5768501"/>
                <a:ext cx="11002120" cy="7937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2278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1E147-B5A9-B09E-FAB0-18E83A77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BC518-C71F-4297-0901-641E3031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34" y="452718"/>
            <a:ext cx="10132136" cy="1400530"/>
          </a:xfrm>
        </p:spPr>
        <p:txBody>
          <a:bodyPr/>
          <a:lstStyle/>
          <a:p>
            <a:r>
              <a:rPr lang="en-US" sz="3600" b="1" dirty="0">
                <a:solidFill>
                  <a:srgbClr val="FFFFFF"/>
                </a:solidFill>
              </a:rPr>
              <a:t>MLE Results Summary - Gaussian Distribution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8E3CC-D456-EE0F-C42A-368FA5847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853248"/>
            <a:ext cx="10545609" cy="598122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Multidimensional Case: xₖ ~ N(μ, Σ), both μ and Σ unknown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D583F-864E-9B9B-75F9-121D14F4B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281228C-9705-155E-D953-070B9EA304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8834" y="2485293"/>
                <a:ext cx="5450869" cy="1921338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algn="ctr">
                  <a:buFont typeface="Wingdings" panose="05000000000000000000" pitchFamily="2" charset="2"/>
                  <a:buChar char="§"/>
                </a:pPr>
                <a:r>
                  <a:rPr lang="en-US" b="1" dirty="0"/>
                  <a:t>Mean Estimator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𝒎𝒍</m:t>
                          </m:r>
                        </m:sub>
                      </m:sSub>
                      <m:r>
                        <a:rPr lang="en-US" b="1" i="1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n-US" b="1" i="1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1" dirty="0">
                  <a:solidFill>
                    <a:srgbClr val="F0A500"/>
                  </a:solidFill>
                </a:endParaRPr>
              </a:p>
              <a:p>
                <a:pPr algn="ctr">
                  <a:buFont typeface="Wingdings" panose="05000000000000000000" pitchFamily="2" charset="2"/>
                  <a:buChar char="§"/>
                </a:pPr>
                <a:r>
                  <a:rPr lang="en-US" dirty="0"/>
                  <a:t>Empirical mean — always unbiased</a:t>
                </a:r>
              </a:p>
              <a:p>
                <a:pPr algn="ctr"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281228C-9705-155E-D953-070B9EA30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34" y="2485293"/>
                <a:ext cx="5450869" cy="1921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F45893B-81AA-8610-12D8-0473962ED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00085" y="2485293"/>
                <a:ext cx="5450869" cy="1921338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algn="ctr">
                  <a:buFont typeface="Wingdings" panose="05000000000000000000" pitchFamily="2" charset="2"/>
                  <a:buChar char="§"/>
                </a:pPr>
                <a:r>
                  <a:rPr lang="en-US" b="1" dirty="0"/>
                  <a:t>Covariance Estimator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</m:acc>
                        </m:e>
                        <m:sub>
                          <m:r>
                            <a:rPr lang="en-US" b="1" i="1" smtClean="0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𝒎𝒍</m:t>
                          </m:r>
                        </m:sub>
                      </m:sSub>
                      <m:r>
                        <a:rPr lang="en-US" b="1" i="1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n-US" b="1" i="1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𝒎𝒍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F0A5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F0A5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F0A5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F0A5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F0A5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F0A5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F0A5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𝒎𝒍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0A5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e>
                      </m:nary>
                      <m:r>
                        <a:rPr lang="en-US" b="1" i="1">
                          <a:solidFill>
                            <a:srgbClr val="F0A5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i="1" dirty="0">
                  <a:solidFill>
                    <a:srgbClr val="F0A5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dirty="0"/>
                  <a:t>Biased — use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1" i="1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en-US" b="1" i="1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b>
                      <m:sSubPr>
                        <m:ctrlPr>
                          <a:rPr lang="en-US" b="1" i="1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solidFill>
                                  <a:srgbClr val="F0A5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F0A5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𝜮</m:t>
                            </m:r>
                          </m:e>
                        </m:acc>
                      </m:e>
                      <m:sub>
                        <m:r>
                          <a:rPr lang="en-US" b="1" i="1">
                            <a:solidFill>
                              <a:srgbClr val="F0A500"/>
                            </a:solidFill>
                            <a:latin typeface="Cambria Math" panose="02040503050406030204" pitchFamily="18" charset="0"/>
                          </a:rPr>
                          <m:t>𝒎𝒍</m:t>
                        </m:r>
                      </m:sub>
                    </m:sSub>
                    <m:r>
                      <a:rPr lang="en-US" b="1" i="1" smtClean="0">
                        <a:solidFill>
                          <a:srgbClr val="F0A5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for unbiased</a:t>
                </a:r>
              </a:p>
              <a:p>
                <a:pPr algn="ctr"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F45893B-81AA-8610-12D8-0473962ED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0085" y="2485293"/>
                <a:ext cx="5450869" cy="1921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AAB988A-7B19-8E67-3006-86C1327F62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6222015"/>
                  </p:ext>
                </p:extLst>
              </p:nvPr>
            </p:nvGraphicFramePr>
            <p:xfrm>
              <a:off x="548834" y="4563619"/>
              <a:ext cx="11002120" cy="19986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68860">
                      <a:extLst>
                        <a:ext uri="{9D8B030D-6E8A-4147-A177-3AD203B41FA5}">
                          <a16:colId xmlns:a16="http://schemas.microsoft.com/office/drawing/2014/main" val="603223742"/>
                        </a:ext>
                      </a:extLst>
                    </a:gridCol>
                    <a:gridCol w="1685365">
                      <a:extLst>
                        <a:ext uri="{9D8B030D-6E8A-4147-A177-3AD203B41FA5}">
                          <a16:colId xmlns:a16="http://schemas.microsoft.com/office/drawing/2014/main" val="2582002920"/>
                        </a:ext>
                      </a:extLst>
                    </a:gridCol>
                    <a:gridCol w="1577788">
                      <a:extLst>
                        <a:ext uri="{9D8B030D-6E8A-4147-A177-3AD203B41FA5}">
                          <a16:colId xmlns:a16="http://schemas.microsoft.com/office/drawing/2014/main" val="2052945672"/>
                        </a:ext>
                      </a:extLst>
                    </a:gridCol>
                    <a:gridCol w="5670107">
                      <a:extLst>
                        <a:ext uri="{9D8B030D-6E8A-4147-A177-3AD203B41FA5}">
                          <a16:colId xmlns:a16="http://schemas.microsoft.com/office/drawing/2014/main" val="1346772923"/>
                        </a:ext>
                      </a:extLst>
                    </a:gridCol>
                  </a:tblGrid>
                  <a:tr h="49966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</a:rPr>
                            <a:t>Estimator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</a:rPr>
                            <a:t>Unbiased?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</a:rPr>
                            <a:t>Consistent?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</a:rPr>
                            <a:t>Notes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2436057"/>
                      </a:ext>
                    </a:extLst>
                  </a:tr>
                  <a:tr h="499663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𝒎𝒍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(mean)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2C5F2D"/>
                              </a:solidFill>
                            </a:rPr>
                            <a:t>✓ Yes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2C5F2D"/>
                              </a:solidFill>
                            </a:rPr>
                            <a:t>✓ Yes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1A1A2E"/>
                              </a:solidFill>
                            </a:rPr>
                            <a:t>Equals empirical average for many distributions</a:t>
                          </a:r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4899877"/>
                      </a:ext>
                    </a:extLst>
                  </a:tr>
                  <a:tr h="499663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𝝈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𝒎𝒍</m:t>
                                  </m:r>
                                </m:sub>
                                <m:sup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(variance)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B85042"/>
                              </a:solidFill>
                            </a:rPr>
                            <a:t>✗ No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2C5F2D"/>
                              </a:solidFill>
                            </a:rPr>
                            <a:t>✓ Yes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1A1A2E"/>
                              </a:solidFill>
                            </a:rPr>
                            <a:t>Use N/(N-1) correction for unbiased version</a:t>
                          </a:r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706345"/>
                      </a:ext>
                    </a:extLst>
                  </a:tr>
                  <a:tr h="499663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𝜮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𝒎𝒍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(covariance)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B85042"/>
                              </a:solidFill>
                            </a:rPr>
                            <a:t>✗ No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2C5F2D"/>
                              </a:solidFill>
                            </a:rPr>
                            <a:t>✓ Yes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1A1A2E"/>
                              </a:solidFill>
                            </a:rPr>
                            <a:t>Same bias issue; corrected by N/(N-1)</a:t>
                          </a:r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2108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AAB988A-7B19-8E67-3006-86C1327F62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6222015"/>
                  </p:ext>
                </p:extLst>
              </p:nvPr>
            </p:nvGraphicFramePr>
            <p:xfrm>
              <a:off x="548834" y="4563619"/>
              <a:ext cx="11002120" cy="19986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68860">
                      <a:extLst>
                        <a:ext uri="{9D8B030D-6E8A-4147-A177-3AD203B41FA5}">
                          <a16:colId xmlns:a16="http://schemas.microsoft.com/office/drawing/2014/main" val="603223742"/>
                        </a:ext>
                      </a:extLst>
                    </a:gridCol>
                    <a:gridCol w="1685365">
                      <a:extLst>
                        <a:ext uri="{9D8B030D-6E8A-4147-A177-3AD203B41FA5}">
                          <a16:colId xmlns:a16="http://schemas.microsoft.com/office/drawing/2014/main" val="2582002920"/>
                        </a:ext>
                      </a:extLst>
                    </a:gridCol>
                    <a:gridCol w="1577788">
                      <a:extLst>
                        <a:ext uri="{9D8B030D-6E8A-4147-A177-3AD203B41FA5}">
                          <a16:colId xmlns:a16="http://schemas.microsoft.com/office/drawing/2014/main" val="2052945672"/>
                        </a:ext>
                      </a:extLst>
                    </a:gridCol>
                    <a:gridCol w="5670107">
                      <a:extLst>
                        <a:ext uri="{9D8B030D-6E8A-4147-A177-3AD203B41FA5}">
                          <a16:colId xmlns:a16="http://schemas.microsoft.com/office/drawing/2014/main" val="1346772923"/>
                        </a:ext>
                      </a:extLst>
                    </a:gridCol>
                  </a:tblGrid>
                  <a:tr h="49966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</a:rPr>
                            <a:t>Estimator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</a:rPr>
                            <a:t>Unbiased?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</a:rPr>
                            <a:t>Consistent?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</a:rPr>
                            <a:t>Notes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2436057"/>
                      </a:ext>
                    </a:extLst>
                  </a:tr>
                  <a:tr h="4996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0" t="-104819" r="-43392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2C5F2D"/>
                              </a:solidFill>
                            </a:rPr>
                            <a:t>✓ Yes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2C5F2D"/>
                              </a:solidFill>
                            </a:rPr>
                            <a:t>✓ Yes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1A1A2E"/>
                              </a:solidFill>
                            </a:rPr>
                            <a:t>Equals empirical average for many distributions</a:t>
                          </a:r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4899877"/>
                      </a:ext>
                    </a:extLst>
                  </a:tr>
                  <a:tr h="4996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0" t="-207317" r="-433923" b="-1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B85042"/>
                              </a:solidFill>
                            </a:rPr>
                            <a:t>✗ No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2C5F2D"/>
                              </a:solidFill>
                            </a:rPr>
                            <a:t>✓ Yes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1A1A2E"/>
                              </a:solidFill>
                            </a:rPr>
                            <a:t>Use N/(N-1) correction for unbiased version</a:t>
                          </a:r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706345"/>
                      </a:ext>
                    </a:extLst>
                  </a:tr>
                  <a:tr h="4996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0" t="-307317" r="-433923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B85042"/>
                              </a:solidFill>
                            </a:rPr>
                            <a:t>✗ No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2C5F2D"/>
                              </a:solidFill>
                            </a:rPr>
                            <a:t>✓ Yes</a:t>
                          </a:r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rgbClr val="1A1A2E"/>
                              </a:solidFill>
                            </a:rPr>
                            <a:t>Same bias issue; corrected by N/(N-1)</a:t>
                          </a:r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21083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87556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A48CF-B1DC-62E2-9085-7E68622FC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C44672-144D-338B-CC74-819ECFE3E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/>
            <a:r>
              <a:rPr lang="en-US" b="1" dirty="0">
                <a:solidFill>
                  <a:srgbClr val="FFFFFF"/>
                </a:solidFill>
              </a:rPr>
              <a:t>Bayesian Estimation of the Class-Specific Distributions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7599A6-90C8-0DD9-51B2-B480CAC59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4.2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205A2-B1F9-C85B-FCC1-74C735648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410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D724B-7913-5C97-5C28-67C49345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908B3-E6EE-1332-4B4C-DEAD31845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</a:rPr>
              <a:t>Overview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473F3-9FF3-622C-B784-26404490F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B926AE-E328-312B-161F-B1DC65B3443A}"/>
              </a:ext>
            </a:extLst>
          </p:cNvPr>
          <p:cNvSpPr txBox="1">
            <a:spLocks/>
          </p:cNvSpPr>
          <p:nvPr/>
        </p:nvSpPr>
        <p:spPr>
          <a:xfrm>
            <a:off x="645131" y="1721224"/>
            <a:ext cx="5229509" cy="4684058"/>
          </a:xfrm>
          <a:prstGeom prst="rect">
            <a:avLst/>
          </a:prstGeom>
          <a:ln w="38100">
            <a:solidFill>
              <a:schemeClr val="tx1"/>
            </a:solidFill>
            <a:prstDash val="dash"/>
          </a:ln>
        </p:spPr>
        <p:txBody>
          <a:bodyPr vert="horz" lIns="91440" tIns="91440" rIns="91440" bIns="9144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b="1" dirty="0"/>
              <a:t>Classical Approach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Treats theta as a fixed, unknown constant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Estimates theta directly from the dataset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Starts from ML (maximum likelihood)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Parameter vector is deterministic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DC96AC-8F96-A9CD-DCF6-A634BB6840DB}"/>
              </a:ext>
            </a:extLst>
          </p:cNvPr>
          <p:cNvSpPr txBox="1">
            <a:spLocks/>
          </p:cNvSpPr>
          <p:nvPr/>
        </p:nvSpPr>
        <p:spPr>
          <a:xfrm>
            <a:off x="6317362" y="1730190"/>
            <a:ext cx="5309853" cy="4684058"/>
          </a:xfrm>
          <a:prstGeom prst="rect">
            <a:avLst/>
          </a:prstGeom>
          <a:ln w="38100">
            <a:solidFill>
              <a:schemeClr val="tx1"/>
            </a:solidFill>
            <a:prstDash val="dash"/>
          </a:ln>
        </p:spPr>
        <p:txBody>
          <a:bodyPr vert="horz" lIns="91440" tIns="91440" rIns="91440" bIns="9144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b="1" dirty="0"/>
              <a:t>Bayesian Approach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Treats theta as a random quantity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Estimates parameter directly from the given data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Starting point: classifying unknown objects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Parameter is an intermediate link between training samples and unknown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70DFD9-9379-A98C-672F-A28E1FC49A28}"/>
              </a:ext>
            </a:extLst>
          </p:cNvPr>
          <p:cNvSpPr/>
          <p:nvPr/>
        </p:nvSpPr>
        <p:spPr>
          <a:xfrm>
            <a:off x="5697690" y="3757182"/>
            <a:ext cx="796620" cy="74416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652259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4AEAE-E41E-A500-2B58-E6C30E4C1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BFF1-6B25-CABD-9D74-5CCBA187B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Parameter Estimation for a Univariant Gaussian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D95289-D746-CCE3-C5A4-2EEDBE32F5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0" y="2081718"/>
                <a:ext cx="10545609" cy="4323563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Setup: 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Given a dataset D = {x₁,…,xₙ}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We assume a joint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is a random variable 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Our gall is to choose a good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that represent the data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MAP say, we can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MAP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Remember for MLE,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MLE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D95289-D746-CCE3-C5A4-2EEDBE32F5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0" y="2081718"/>
                <a:ext cx="10545609" cy="4323563"/>
              </a:xfrm>
              <a:blipFill>
                <a:blip r:embed="rId2"/>
                <a:stretch>
                  <a:fillRect l="-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6A790-7254-ACB3-CF4E-DC525314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150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B31F0-3B8A-AD1F-E3A0-B15148C6A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34201-3B94-49AD-1999-76461293D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Parameter Estimation for a Univariant Gaussian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20226D-EA6C-F452-B129-DBADD6FC22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0" y="2187387"/>
                <a:ext cx="10545609" cy="4524697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Given a dataset D = {x₁,…,xₙ}, where each point is a univariant and the data is sampled from a gaussian distribution.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We suppose that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is a random variable and has the distribution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So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…..,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∏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MAP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To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that maximize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MAP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we need to calculate the differentiation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MAP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with respect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and let it equals zero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MAP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20226D-EA6C-F452-B129-DBADD6FC22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0" y="2187387"/>
                <a:ext cx="10545609" cy="4524697"/>
              </a:xfrm>
              <a:blipFill>
                <a:blip r:embed="rId2"/>
                <a:stretch>
                  <a:fillRect l="-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CA8D1-6C62-560E-7E5A-CB5BF388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461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9D9E1-D00F-3E86-C989-96EB3C242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346E-C912-73F5-DF67-BB81AB0A7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Parameter Estimation for a Univariant Gaussian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D5133A-B2CF-C2E3-9BE2-DCE64EFE11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0" y="1853248"/>
                <a:ext cx="10545609" cy="4552034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From MLE we calculate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l-G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l-G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l-G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𝜕𝜃</m:t>
                        </m:r>
                      </m:den>
                    </m:f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So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𝜕𝜃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MAP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MAP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𝑀𝐿𝐸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			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𝑀𝐿𝐸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D5133A-B2CF-C2E3-9BE2-DCE64EFE11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0" y="1853248"/>
                <a:ext cx="10545609" cy="4552034"/>
              </a:xfrm>
              <a:blipFill>
                <a:blip r:embed="rId2"/>
                <a:stretch>
                  <a:fillRect l="-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09499-560D-7263-FD06-8010E976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91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1994C-FA13-E0D4-04C8-E8C7F890C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Parameter Estimation for a Univariant Gaussian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96F959-AC55-BD14-E970-C07CB3D601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1" y="2490281"/>
                <a:ext cx="10545607" cy="375811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Now, if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Ν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then we get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sSubSup>
                              <m:sSub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𝑀𝐿𝐸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96F959-AC55-BD14-E970-C07CB3D601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1" y="2490281"/>
                <a:ext cx="10545607" cy="3758118"/>
              </a:xfrm>
              <a:blipFill>
                <a:blip r:embed="rId2"/>
                <a:stretch>
                  <a:fillRect l="-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751FE-5142-0F13-62DE-E9C87226A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602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999A7-FAF5-3AF1-5414-6B000C93E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6EC6A-526D-31DA-47F7-E61B86BE8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</a:rPr>
              <a:t>Limiting Behavior as N → ∞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A6AF9-7185-2F81-B6E9-56CCFA910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4727643"/>
            <a:ext cx="10545609" cy="18346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Conclusion</a:t>
            </a:r>
            <a:r>
              <a:rPr lang="en-US" dirty="0"/>
              <a:t>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For large N, any resemblance to the prior vanishes.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result depends solely on data and equals the ML estimator.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a posteriori converges to a Dirac at the empirical mean.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BF890-7807-8AEF-5E36-8052EC3D6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C3E8E6A-6E39-3B5F-54BD-18BFDA86DF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5130" y="2429816"/>
                <a:ext cx="3691531" cy="2161639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b="1" dirty="0"/>
                  <a:t>N = 0  (no data)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1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₀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𝒂𝒏𝒅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1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₀²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i="1" dirty="0"/>
                  <a:t>Distribution equals the prior — a reasonable result.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C3E8E6A-6E39-3B5F-54BD-18BFDA86D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30" y="2429816"/>
                <a:ext cx="3691531" cy="2161639"/>
              </a:xfrm>
              <a:prstGeom prst="rect">
                <a:avLst/>
              </a:prstGeom>
              <a:blipFill>
                <a:blip r:embed="rId2"/>
                <a:stretch>
                  <a:fillRect l="-1309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316F70D-CFA4-EF43-0526-6FF74351CF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80571" y="2429815"/>
                <a:ext cx="3460704" cy="2161639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 lnSpcReduction="1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pt-BR" b="1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pt-BR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pt-BR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pt-BR" b="1" i="1" dirty="0">
                              <a:latin typeface="Cambria Math" panose="02040503050406030204" pitchFamily="18" charset="0"/>
                            </a:rPr>
                            <m:t>∞</m:t>
                          </m:r>
                        </m:lim>
                      </m:limLow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ar-SA" b="1" i="1" dirty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b="1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pt-BR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pt-BR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pt-BR" b="1" i="1" dirty="0">
                              <a:latin typeface="Cambria Math" panose="02040503050406030204" pitchFamily="18" charset="0"/>
                            </a:rPr>
                            <m:t>∞</m:t>
                          </m:r>
                        </m:lim>
                      </m:limLow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ar-SA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S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ar-S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ar-S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ar-S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ar-S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S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ar-SA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sSub>
                            <m:sSubPr>
                              <m:ctrlPr>
                                <a:rPr lang="ar-SA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ar-SA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ar-SA" b="1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i="1" dirty="0"/>
                  <a:t>Posterior mean → ML estimate (empirical mean)</a:t>
                </a: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316F70D-CFA4-EF43-0526-6FF74351C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71" y="2429815"/>
                <a:ext cx="3460704" cy="2161639"/>
              </a:xfrm>
              <a:prstGeom prst="rect">
                <a:avLst/>
              </a:prstGeom>
              <a:blipFill>
                <a:blip r:embed="rId3"/>
                <a:stretch>
                  <a:fillRect l="-1220" r="-1220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14259A8-FF81-8A6E-DC80-413F2B1D88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85184" y="2429816"/>
                <a:ext cx="3460704" cy="2161639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 fontScale="92500" lnSpcReduction="1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pt-BR" b="1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pt-BR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pt-BR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pt-BR" b="1" i="1" dirty="0">
                              <a:latin typeface="Cambria Math" panose="02040503050406030204" pitchFamily="18" charset="0"/>
                            </a:rPr>
                            <m:t>∞</m:t>
                          </m:r>
                        </m:lim>
                      </m:limLow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b="1" i="1" dirty="0"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i="1" dirty="0"/>
                  <a:t>Posterior variance vanishes — estimation uncertainty disappears</a:t>
                </a: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14259A8-FF81-8A6E-DC80-413F2B1D8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184" y="2429816"/>
                <a:ext cx="3460704" cy="2161639"/>
              </a:xfrm>
              <a:prstGeom prst="rect">
                <a:avLst/>
              </a:prstGeom>
              <a:blipFill>
                <a:blip r:embed="rId4"/>
                <a:stretch>
                  <a:fillRect l="-1045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3C5776B-0CF0-5A53-1670-FE5F87F9B188}"/>
              </a:ext>
            </a:extLst>
          </p:cNvPr>
          <p:cNvSpPr txBox="1"/>
          <p:nvPr/>
        </p:nvSpPr>
        <p:spPr>
          <a:xfrm>
            <a:off x="448236" y="1721930"/>
            <a:ext cx="10742503" cy="707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>
                <a:solidFill>
                  <a:srgbClr val="2D7A56"/>
                </a:solidFill>
                <a:latin typeface="+mj-lt"/>
                <a:ea typeface="+mj-ea"/>
                <a:cs typeface="+mj-cs"/>
              </a:defRPr>
            </a:lvl1pPr>
            <a:lvl2pPr marL="742950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Special cases with respect to the sample number N:</a:t>
            </a:r>
          </a:p>
        </p:txBody>
      </p:sp>
    </p:spTree>
    <p:extLst>
      <p:ext uri="{BB962C8B-B14F-4D97-AF65-F5344CB8AC3E}">
        <p14:creationId xmlns:p14="http://schemas.microsoft.com/office/powerpoint/2010/main" val="26441390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F69DE-A087-B2F9-CF68-99D568EE0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Effect of dataset size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522652-455B-8795-C716-84BB4A9DDF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7508" y="1551691"/>
            <a:ext cx="8656984" cy="51826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B58A3-9DC0-1790-3DFD-70D9376F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1972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577D0-18EE-AE06-4B07-4CAD0724B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407D-3A55-D2AF-D968-2574B0368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</a:rPr>
              <a:t>Multivariate Gaussian Case</a:t>
            </a:r>
            <a:br>
              <a:rPr lang="en-US" sz="440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7C8B16-0607-1C82-57CF-B7CD809896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0" y="1853249"/>
                <a:ext cx="10545609" cy="140053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Straightforward generalization: x ~ N(μ, Σ) with mean μ ~ N(μ₀, Σ₀). The a posteriori of μ is: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  = 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1" i="1" dirty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⁡{ −½ 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b="1" i="1" dirty="0">
                        <a:latin typeface="Cambria Math" panose="02040503050406030204" pitchFamily="18" charset="0"/>
                      </a:rPr>
                      <m:t>)ᵀ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b="1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b="1" i="1" dirty="0">
                        <a:latin typeface="Cambria Math" panose="02040503050406030204" pitchFamily="18" charset="0"/>
                      </a:rPr>
                      <m:t>) }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7C8B16-0607-1C82-57CF-B7CD809896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0" y="1853249"/>
                <a:ext cx="10545609" cy="1400530"/>
              </a:xfrm>
              <a:blipFill>
                <a:blip r:embed="rId2"/>
                <a:stretch>
                  <a:fillRect l="-231" t="-2174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ACF6B-5067-7C19-45C6-E62CCB42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27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EAA22E4-3C59-E9FC-1EDF-A159A91151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8011003"/>
                  </p:ext>
                </p:extLst>
              </p:nvPr>
            </p:nvGraphicFramePr>
            <p:xfrm>
              <a:off x="719847" y="3253778"/>
              <a:ext cx="9893030" cy="15994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0352">
                      <a:extLst>
                        <a:ext uri="{9D8B030D-6E8A-4147-A177-3AD203B41FA5}">
                          <a16:colId xmlns:a16="http://schemas.microsoft.com/office/drawing/2014/main" val="4030293458"/>
                        </a:ext>
                      </a:extLst>
                    </a:gridCol>
                    <a:gridCol w="8332678">
                      <a:extLst>
                        <a:ext uri="{9D8B030D-6E8A-4147-A177-3AD203B41FA5}">
                          <a16:colId xmlns:a16="http://schemas.microsoft.com/office/drawing/2014/main" val="1056945961"/>
                        </a:ext>
                      </a:extLst>
                    </a:gridCol>
                  </a:tblGrid>
                  <a:tr h="46149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</a:rPr>
                            <a:t>Quantity</a:t>
                          </a:r>
                          <a:endParaRPr 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</a:rPr>
                            <a:t>Formula</a:t>
                          </a:r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2463688"/>
                      </a:ext>
                    </a:extLst>
                  </a:tr>
                  <a:tr h="568962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</a:rPr>
                            <a:t>N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2000" b="1" dirty="0" smtClean="0">
                                      <a:solidFill>
                                        <a:schemeClr val="bg1"/>
                                      </a:solidFill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sz="2000" b="1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</a:rPr>
                            <a:t>(</a:t>
                          </a:r>
                          <a:r>
                            <a:rPr lang="en-US" sz="2000" b="1" kern="1200" dirty="0">
                              <a:solidFill>
                                <a:srgbClr val="0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2000" b="1" kern="1200" dirty="0" smtClean="0">
                                      <a:solidFill>
                                        <a:srgbClr val="000000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sz="2000" b="1" kern="120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1" kern="1200" dirty="0">
                              <a:solidFill>
                                <a:srgbClr val="0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 Σ)⁻¹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kern="1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2000" b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𝑴𝑳𝑬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1" kern="1200" dirty="0">
                              <a:solidFill>
                                <a:srgbClr val="0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  Σ(NΣ₀ + Σ)⁻¹ μ₀   where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kern="1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2000" b="1" kern="1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𝑴𝑳𝑬</m:t>
                                  </m:r>
                                </m:sub>
                              </m:sSub>
                              <m:r>
                                <a:rPr lang="en-US" sz="2000" b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</m:t>
                              </m:r>
                              <m:f>
                                <m:fPr>
                                  <m:ctrlPr>
                                    <a:rPr lang="en-US" sz="2000" b="1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𝑵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2000" b="1" i="1" kern="1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b="1" kern="1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𝒊</m:t>
                                  </m:r>
                                  <m:r>
                                    <a:rPr lang="en-US" sz="2000" b="1" kern="1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2000" b="1" kern="1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000" b="1" kern="1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𝑵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000" b="1" i="1" kern="1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kern="1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000" b="1" kern="1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nary>
                            </m:oMath>
                          </a14:m>
                          <a:endParaRPr lang="en-US" sz="2000" b="1" kern="1200" dirty="0">
                            <a:solidFill>
                              <a:srgbClr val="00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25292920"/>
                      </a:ext>
                    </a:extLst>
                  </a:tr>
                  <a:tr h="568962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000" b="1" dirty="0" smtClean="0">
                                        <a:solidFill>
                                          <a:schemeClr val="bg1"/>
                                        </a:solidFill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</a:rPr>
                            <a:t>Σ₀Σ(NΣ₀ + Σ)⁻¹  — posterior covariance matrix</a:t>
                          </a:r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221800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EAA22E4-3C59-E9FC-1EDF-A159A91151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8011003"/>
                  </p:ext>
                </p:extLst>
              </p:nvPr>
            </p:nvGraphicFramePr>
            <p:xfrm>
              <a:off x="719847" y="3253778"/>
              <a:ext cx="9893030" cy="15994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0352">
                      <a:extLst>
                        <a:ext uri="{9D8B030D-6E8A-4147-A177-3AD203B41FA5}">
                          <a16:colId xmlns:a16="http://schemas.microsoft.com/office/drawing/2014/main" val="4030293458"/>
                        </a:ext>
                      </a:extLst>
                    </a:gridCol>
                    <a:gridCol w="8332678">
                      <a:extLst>
                        <a:ext uri="{9D8B030D-6E8A-4147-A177-3AD203B41FA5}">
                          <a16:colId xmlns:a16="http://schemas.microsoft.com/office/drawing/2014/main" val="1056945961"/>
                        </a:ext>
                      </a:extLst>
                    </a:gridCol>
                  </a:tblGrid>
                  <a:tr h="46149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</a:rPr>
                            <a:t>Quantity</a:t>
                          </a:r>
                          <a:endParaRPr 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</a:rPr>
                            <a:t>Formula</a:t>
                          </a:r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2463688"/>
                      </a:ext>
                    </a:extLst>
                  </a:tr>
                  <a:tr h="5689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1" t="-81915" r="-535938" b="-10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800" t="-81915" r="-366" b="-1031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5292920"/>
                      </a:ext>
                    </a:extLst>
                  </a:tr>
                  <a:tr h="5689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1" t="-181915" r="-535938" b="-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</a:rPr>
                            <a:t>Σ₀Σ(NΣ₀ + Σ)⁻¹  — posterior covariance matrix</a:t>
                          </a:r>
                          <a:endParaRPr lang="en-US" sz="2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221800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514BF3-CF8F-7D28-E945-B8028A1FE249}"/>
                  </a:ext>
                </a:extLst>
              </p:cNvPr>
              <p:cNvSpPr txBox="1"/>
              <p:nvPr/>
            </p:nvSpPr>
            <p:spPr>
              <a:xfrm>
                <a:off x="645129" y="5109447"/>
                <a:ext cx="1108070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800" dirty="0"/>
                  <a:t>The multivariate feature distribution (analogous to Eq. 4.53) equals:</a:t>
                </a:r>
              </a:p>
              <a:p>
                <a:endParaRPr lang="en-US" sz="18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 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𝒊𝒔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1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1" dirty="0">
                            <a:solidFill>
                              <a:schemeClr val="tx1"/>
                            </a:solidFill>
                          </a:rPr>
                          <m:t>Σ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514BF3-CF8F-7D28-E945-B8028A1FE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29" y="5109447"/>
                <a:ext cx="11080705" cy="1200329"/>
              </a:xfrm>
              <a:prstGeom prst="rect">
                <a:avLst/>
              </a:prstGeom>
              <a:blipFill>
                <a:blip r:embed="rId4"/>
                <a:stretch>
                  <a:fillRect l="-385" t="-2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60795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3A6E4-4086-BA8D-46B0-62D43D88C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7B6EC-942A-6559-F981-6702ABDA7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b="1" dirty="0">
                <a:solidFill>
                  <a:srgbClr val="FFFFFF"/>
                </a:solidFill>
              </a:rPr>
              <a:t>Summary: Principal Steps of the Bayesian Approach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41AC6-0EF1-823C-2A06-20C83D4F2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2139901"/>
            <a:ext cx="10545609" cy="630732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Performed for each class ωᴵ, </a:t>
            </a:r>
            <a:r>
              <a:rPr lang="en-US" dirty="0" err="1"/>
              <a:t>i</a:t>
            </a:r>
            <a:r>
              <a:rPr lang="en-US" dirty="0"/>
              <a:t> = 1, …, c: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ABBF5-B8D6-2F99-4A58-EAB2F3237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DC18724-DE88-9876-CE7D-08DB8DF01034}"/>
              </a:ext>
            </a:extLst>
          </p:cNvPr>
          <p:cNvSpPr/>
          <p:nvPr/>
        </p:nvSpPr>
        <p:spPr>
          <a:xfrm>
            <a:off x="646111" y="2880360"/>
            <a:ext cx="548640" cy="548640"/>
          </a:xfrm>
          <a:prstGeom prst="ellipse">
            <a:avLst/>
          </a:prstGeom>
          <a:solidFill>
            <a:srgbClr val="3A8FC1"/>
          </a:solidFill>
          <a:ln/>
        </p:spPr>
        <p:txBody>
          <a:bodyPr/>
          <a:lstStyle/>
          <a:p>
            <a:endParaRPr lang="en-US" sz="2400" b="1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896D7E-2B7D-F53A-19EF-2E7365520C41}"/>
              </a:ext>
            </a:extLst>
          </p:cNvPr>
          <p:cNvSpPr/>
          <p:nvPr/>
        </p:nvSpPr>
        <p:spPr>
          <a:xfrm>
            <a:off x="646111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b="1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EF1E25E-F4F0-4A3A-1547-EA529CA35473}"/>
              </a:ext>
            </a:extLst>
          </p:cNvPr>
          <p:cNvSpPr/>
          <p:nvPr/>
        </p:nvSpPr>
        <p:spPr>
          <a:xfrm>
            <a:off x="1331911" y="2788920"/>
            <a:ext cx="10213978" cy="804672"/>
          </a:xfrm>
          <a:prstGeom prst="rect">
            <a:avLst/>
          </a:prstGeom>
          <a:solidFill>
            <a:srgbClr val="E8F2FA"/>
          </a:solidFill>
          <a:ln w="12700">
            <a:solidFill>
              <a:srgbClr val="3A8FC1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0AFC440-E936-963B-8D9F-5AB7797C7ADF}"/>
              </a:ext>
            </a:extLst>
          </p:cNvPr>
          <p:cNvSpPr/>
          <p:nvPr/>
        </p:nvSpPr>
        <p:spPr>
          <a:xfrm>
            <a:off x="1469070" y="2834640"/>
            <a:ext cx="890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8FC1"/>
                </a:solidFill>
              </a:rPr>
              <a:t>Structural Model</a:t>
            </a:r>
            <a:endParaRPr lang="en-US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98B2333-AE1F-6349-511D-B310BB82A428}"/>
              </a:ext>
            </a:extLst>
          </p:cNvPr>
          <p:cNvSpPr/>
          <p:nvPr/>
        </p:nvSpPr>
        <p:spPr>
          <a:xfrm>
            <a:off x="1469070" y="3118104"/>
            <a:ext cx="973890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4155"/>
                </a:solidFill>
              </a:rPr>
              <a:t>p(x | θᴵ, ωᴵ) is assumed structurally known; θᴵ is a random quantity.</a:t>
            </a:r>
            <a:endParaRPr lang="en-US" b="1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481217E-BEF9-A4EA-88A4-BF67F26DBB6C}"/>
              </a:ext>
            </a:extLst>
          </p:cNvPr>
          <p:cNvSpPr/>
          <p:nvPr/>
        </p:nvSpPr>
        <p:spPr>
          <a:xfrm>
            <a:off x="646111" y="379476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 b="1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EDF4743-C0B5-584C-B74C-45D197BD4A99}"/>
              </a:ext>
            </a:extLst>
          </p:cNvPr>
          <p:cNvSpPr/>
          <p:nvPr/>
        </p:nvSpPr>
        <p:spPr>
          <a:xfrm>
            <a:off x="646111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b="1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D271639-B3FF-4DAB-B290-02B6EDD28AA9}"/>
              </a:ext>
            </a:extLst>
          </p:cNvPr>
          <p:cNvSpPr/>
          <p:nvPr/>
        </p:nvSpPr>
        <p:spPr>
          <a:xfrm>
            <a:off x="1331911" y="3703320"/>
            <a:ext cx="10213978" cy="804672"/>
          </a:xfrm>
          <a:prstGeom prst="rect">
            <a:avLst/>
          </a:prstGeom>
          <a:solidFill>
            <a:srgbClr val="FFF8E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C54AF2F-12B3-76F8-F9AE-6302E1A07A93}"/>
              </a:ext>
            </a:extLst>
          </p:cNvPr>
          <p:cNvSpPr/>
          <p:nvPr/>
        </p:nvSpPr>
        <p:spPr>
          <a:xfrm>
            <a:off x="1469070" y="3749040"/>
            <a:ext cx="890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A84C"/>
                </a:solidFill>
              </a:rPr>
              <a:t>A Priori Knowledge</a:t>
            </a:r>
            <a:endParaRPr lang="en-US" b="1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272FE50-EFA9-6FC7-D09A-F406592F0DF1}"/>
              </a:ext>
            </a:extLst>
          </p:cNvPr>
          <p:cNvSpPr/>
          <p:nvPr/>
        </p:nvSpPr>
        <p:spPr>
          <a:xfrm>
            <a:off x="1469070" y="4032504"/>
            <a:ext cx="973890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4155"/>
                </a:solidFill>
              </a:rPr>
              <a:t>p(θᴵ | ωᴵ) encodes prior knowledge about θᴵ.</a:t>
            </a:r>
            <a:endParaRPr lang="en-US" b="1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8E435D5-654C-6464-F9E4-5717FC37BBA8}"/>
              </a:ext>
            </a:extLst>
          </p:cNvPr>
          <p:cNvSpPr/>
          <p:nvPr/>
        </p:nvSpPr>
        <p:spPr>
          <a:xfrm>
            <a:off x="646111" y="4709160"/>
            <a:ext cx="548640" cy="548640"/>
          </a:xfrm>
          <a:prstGeom prst="ellipse">
            <a:avLst/>
          </a:prstGeom>
          <a:solidFill>
            <a:srgbClr val="4CAF82"/>
          </a:solidFill>
          <a:ln/>
        </p:spPr>
        <p:txBody>
          <a:bodyPr/>
          <a:lstStyle/>
          <a:p>
            <a:endParaRPr lang="en-US" sz="2400" b="1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1004617-7668-9752-1B18-CA7597ED8B65}"/>
              </a:ext>
            </a:extLst>
          </p:cNvPr>
          <p:cNvSpPr/>
          <p:nvPr/>
        </p:nvSpPr>
        <p:spPr>
          <a:xfrm>
            <a:off x="646111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b="1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F6F2760-7D95-FBE9-DEB0-43DE156065D5}"/>
              </a:ext>
            </a:extLst>
          </p:cNvPr>
          <p:cNvSpPr/>
          <p:nvPr/>
        </p:nvSpPr>
        <p:spPr>
          <a:xfrm>
            <a:off x="1331911" y="4617720"/>
            <a:ext cx="10213978" cy="804672"/>
          </a:xfrm>
          <a:prstGeom prst="rect">
            <a:avLst/>
          </a:prstGeom>
          <a:solidFill>
            <a:srgbClr val="F0FFF4"/>
          </a:solidFill>
          <a:ln w="12700">
            <a:solidFill>
              <a:srgbClr val="4CAF82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8075269-6298-0344-3848-875EEBAC03E9}"/>
              </a:ext>
            </a:extLst>
          </p:cNvPr>
          <p:cNvSpPr/>
          <p:nvPr/>
        </p:nvSpPr>
        <p:spPr>
          <a:xfrm>
            <a:off x="1469070" y="4663440"/>
            <a:ext cx="890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CAF82"/>
                </a:solidFill>
              </a:rPr>
              <a:t>Dataset as Evidence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7">
                <a:extLst>
                  <a:ext uri="{FF2B5EF4-FFF2-40B4-BE49-F238E27FC236}">
                    <a16:creationId xmlns:a16="http://schemas.microsoft.com/office/drawing/2014/main" id="{6AEF3DCF-CE10-238A-1668-7D2E1E2137DD}"/>
                  </a:ext>
                </a:extLst>
              </p:cNvPr>
              <p:cNvSpPr/>
              <p:nvPr/>
            </p:nvSpPr>
            <p:spPr>
              <a:xfrm>
                <a:off x="1469070" y="4946904"/>
                <a:ext cx="9738909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334155"/>
                    </a:solidFill>
                  </a:rPr>
                  <a:t>Dᴵ is i.i.d. feature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rgbClr val="33415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334155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334155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334155"/>
                    </a:solidFill>
                  </a:rPr>
                  <a:t> </a:t>
                </a:r>
                <a:r>
                  <a:rPr lang="en-US" b="1" dirty="0">
                    <a:solidFill>
                      <a:srgbClr val="334155"/>
                    </a:solidFill>
                  </a:rPr>
                  <a:t>~ p(x | θᴵ, ωᴵ).   p(Dᴵ | θᴵ, ωᴵ) = ∏ 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33415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334155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334155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334155"/>
                    </a:solidFill>
                  </a:rPr>
                  <a:t> | θᴵ, ωᴵ)</a:t>
                </a:r>
                <a:endParaRPr lang="en-US" b="1" dirty="0"/>
              </a:p>
            </p:txBody>
          </p:sp>
        </mc:Choice>
        <mc:Fallback xmlns="">
          <p:sp>
            <p:nvSpPr>
              <p:cNvPr id="19" name="Text 17">
                <a:extLst>
                  <a:ext uri="{FF2B5EF4-FFF2-40B4-BE49-F238E27FC236}">
                    <a16:creationId xmlns:a16="http://schemas.microsoft.com/office/drawing/2014/main" id="{6AEF3DCF-CE10-238A-1668-7D2E1E2137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070" y="4946904"/>
                <a:ext cx="9738909" cy="420624"/>
              </a:xfrm>
              <a:prstGeom prst="rect">
                <a:avLst/>
              </a:prstGeom>
              <a:blipFill>
                <a:blip r:embed="rId2"/>
                <a:stretch>
                  <a:fillRect l="-1502" t="-1449" b="-1739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hape 18">
            <a:extLst>
              <a:ext uri="{FF2B5EF4-FFF2-40B4-BE49-F238E27FC236}">
                <a16:creationId xmlns:a16="http://schemas.microsoft.com/office/drawing/2014/main" id="{2570DD29-80B7-DF0C-6481-83631775A70F}"/>
              </a:ext>
            </a:extLst>
          </p:cNvPr>
          <p:cNvSpPr/>
          <p:nvPr/>
        </p:nvSpPr>
        <p:spPr>
          <a:xfrm>
            <a:off x="646111" y="5623560"/>
            <a:ext cx="548640" cy="548640"/>
          </a:xfrm>
          <a:prstGeom prst="ellipse">
            <a:avLst/>
          </a:prstGeom>
          <a:solidFill>
            <a:srgbClr val="A855B5"/>
          </a:solidFill>
          <a:ln/>
        </p:spPr>
        <p:txBody>
          <a:bodyPr/>
          <a:lstStyle/>
          <a:p>
            <a:endParaRPr lang="en-US" sz="2400" b="1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548783C-8817-52B2-3F59-3E913B188458}"/>
              </a:ext>
            </a:extLst>
          </p:cNvPr>
          <p:cNvSpPr/>
          <p:nvPr/>
        </p:nvSpPr>
        <p:spPr>
          <a:xfrm>
            <a:off x="646111" y="5623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b="1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A967179-37CA-C357-B840-5527D0600118}"/>
              </a:ext>
            </a:extLst>
          </p:cNvPr>
          <p:cNvSpPr/>
          <p:nvPr/>
        </p:nvSpPr>
        <p:spPr>
          <a:xfrm>
            <a:off x="1331911" y="5532120"/>
            <a:ext cx="10213978" cy="804672"/>
          </a:xfrm>
          <a:prstGeom prst="rect">
            <a:avLst/>
          </a:prstGeom>
          <a:solidFill>
            <a:srgbClr val="FDF4FF"/>
          </a:solidFill>
          <a:ln w="12700">
            <a:solidFill>
              <a:srgbClr val="A855B5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CE03D62-3893-FC5A-CA06-7935D644241A}"/>
              </a:ext>
            </a:extLst>
          </p:cNvPr>
          <p:cNvSpPr/>
          <p:nvPr/>
        </p:nvSpPr>
        <p:spPr>
          <a:xfrm>
            <a:off x="1469070" y="5577840"/>
            <a:ext cx="890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855B5"/>
                </a:solidFill>
              </a:rPr>
              <a:t>A Posteriori of θ</a:t>
            </a:r>
            <a:endParaRPr lang="en-US" b="1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B3BEE12-FA2B-08AB-F486-142306EE7D38}"/>
              </a:ext>
            </a:extLst>
          </p:cNvPr>
          <p:cNvSpPr/>
          <p:nvPr/>
        </p:nvSpPr>
        <p:spPr>
          <a:xfrm>
            <a:off x="1469070" y="5861304"/>
            <a:ext cx="973890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4155"/>
                </a:solidFill>
              </a:rPr>
              <a:t>p(θᴵ|Dᴵ,ωᴵ) = p(Dᴵ|θᴵ,ωᴵ)p(θᴵ|ωᴵ) / ∫ p(Dᴵ|θᴵ,ωᴵ)p(θᴵ|ωᴵ)</a:t>
            </a:r>
            <a:r>
              <a:rPr lang="en-US" b="1" dirty="0" err="1">
                <a:solidFill>
                  <a:srgbClr val="334155"/>
                </a:solidFill>
              </a:rPr>
              <a:t>dθ</a:t>
            </a:r>
            <a:r>
              <a:rPr lang="en-US" b="1" dirty="0">
                <a:solidFill>
                  <a:srgbClr val="334155"/>
                </a:solidFill>
              </a:rPr>
              <a:t>ᴵ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80284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79C8E-716A-1514-2829-E773C1393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E7AE-89F9-5392-8C38-FE13C04D6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06842" cy="1400530"/>
          </a:xfrm>
        </p:spPr>
        <p:txBody>
          <a:bodyPr/>
          <a:lstStyle/>
          <a:p>
            <a:r>
              <a:rPr lang="en-US" sz="3800" b="1" dirty="0">
                <a:solidFill>
                  <a:srgbClr val="FFFFFF"/>
                </a:solidFill>
              </a:rPr>
              <a:t>Bayesian vs. Maximum Likelihood Estimation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788C7-86EF-3999-6C05-D63C81B35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2081848"/>
            <a:ext cx="10545609" cy="56005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FFFF"/>
                </a:solidFill>
              </a:rPr>
              <a:t>Bayesian vs. Maximum Likelihood Estimation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B0317-3799-F04F-D146-312BD6E0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D650485-8998-E9D5-E181-757FAA8388DD}"/>
              </a:ext>
            </a:extLst>
          </p:cNvPr>
          <p:cNvSpPr/>
          <p:nvPr/>
        </p:nvSpPr>
        <p:spPr>
          <a:xfrm>
            <a:off x="719847" y="2779059"/>
            <a:ext cx="10661515" cy="1371600"/>
          </a:xfrm>
          <a:prstGeom prst="rect">
            <a:avLst/>
          </a:prstGeom>
          <a:solidFill>
            <a:srgbClr val="E8F2FA"/>
          </a:solidFill>
          <a:ln w="19050">
            <a:solidFill>
              <a:srgbClr val="3A8FC1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F254BAA-FA07-68E0-6B2E-890A56ABCADB}"/>
              </a:ext>
            </a:extLst>
          </p:cNvPr>
          <p:cNvSpPr/>
          <p:nvPr/>
        </p:nvSpPr>
        <p:spPr>
          <a:xfrm>
            <a:off x="1019593" y="2843067"/>
            <a:ext cx="9744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5F8A"/>
                </a:solidFill>
              </a:rPr>
              <a:t>Prior Knowledge</a:t>
            </a:r>
            <a:endParaRPr lang="en-US" sz="2000" b="1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6B7595E-4DE7-E007-C8B0-FF95FCEAE0A7}"/>
              </a:ext>
            </a:extLst>
          </p:cNvPr>
          <p:cNvSpPr/>
          <p:nvPr/>
        </p:nvSpPr>
        <p:spPr>
          <a:xfrm>
            <a:off x="1019593" y="3172251"/>
            <a:ext cx="103617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4155"/>
                </a:solidFill>
              </a:rPr>
              <a:t>Bayesian:  Allows bringing in prior knowledge about the parameter vector through p(θ).</a:t>
            </a:r>
            <a:endParaRPr lang="en-US" b="1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7D04536-B0BC-1838-48BA-88DBFDCFF565}"/>
              </a:ext>
            </a:extLst>
          </p:cNvPr>
          <p:cNvSpPr/>
          <p:nvPr/>
        </p:nvSpPr>
        <p:spPr>
          <a:xfrm>
            <a:off x="1019593" y="3528867"/>
            <a:ext cx="101711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C00000"/>
                </a:solidFill>
              </a:rPr>
              <a:t>ML:           Does not incorporate prior knowledge about the parameter.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4647795-6DC5-B913-A1DD-89256FFFF518}"/>
              </a:ext>
            </a:extLst>
          </p:cNvPr>
          <p:cNvSpPr/>
          <p:nvPr/>
        </p:nvSpPr>
        <p:spPr>
          <a:xfrm>
            <a:off x="719847" y="4287819"/>
            <a:ext cx="10661515" cy="1371600"/>
          </a:xfrm>
          <a:prstGeom prst="rect">
            <a:avLst/>
          </a:prstGeom>
          <a:solidFill>
            <a:srgbClr val="FFF8EC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1BE23EF-F630-3DE6-9BA3-3FC75E55B02A}"/>
              </a:ext>
            </a:extLst>
          </p:cNvPr>
          <p:cNvSpPr/>
          <p:nvPr/>
        </p:nvSpPr>
        <p:spPr>
          <a:xfrm>
            <a:off x="1019593" y="4351827"/>
            <a:ext cx="97443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6914"/>
                </a:solidFill>
              </a:rPr>
              <a:t>Computational Complexity</a:t>
            </a:r>
            <a:endParaRPr lang="en-US" sz="2000" b="1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3D6CE12-41E0-8C31-E0B5-8BF373A35B4C}"/>
              </a:ext>
            </a:extLst>
          </p:cNvPr>
          <p:cNvSpPr/>
          <p:nvPr/>
        </p:nvSpPr>
        <p:spPr>
          <a:xfrm>
            <a:off x="1019593" y="4681011"/>
            <a:ext cx="97443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4155"/>
                </a:solidFill>
              </a:rPr>
              <a:t>Bayesian:  Requires numerical calculation of multi-dimensional integrals.</a:t>
            </a:r>
            <a:endParaRPr lang="en-US" b="1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1DA838B-886C-5872-86A6-3E671F5058F6}"/>
              </a:ext>
            </a:extLst>
          </p:cNvPr>
          <p:cNvSpPr/>
          <p:nvPr/>
        </p:nvSpPr>
        <p:spPr>
          <a:xfrm>
            <a:off x="1019593" y="5037627"/>
            <a:ext cx="97443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chemeClr val="accent1"/>
                </a:solidFill>
              </a:rPr>
              <a:t>ML:           Simpler — one needs only to find an extremum of the likelihood.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D2AF06C-3841-AF9F-17F0-12D4B52BB9D8}"/>
              </a:ext>
            </a:extLst>
          </p:cNvPr>
          <p:cNvSpPr/>
          <p:nvPr/>
        </p:nvSpPr>
        <p:spPr>
          <a:xfrm>
            <a:off x="719847" y="5888019"/>
            <a:ext cx="10661515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3A8FC1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B37079E-7A85-FC53-1C3E-9C8D799962AF}"/>
              </a:ext>
            </a:extLst>
          </p:cNvPr>
          <p:cNvSpPr/>
          <p:nvPr/>
        </p:nvSpPr>
        <p:spPr>
          <a:xfrm>
            <a:off x="947193" y="5906307"/>
            <a:ext cx="100883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E5F8A"/>
                </a:solidFill>
              </a:rPr>
              <a:t>Next: Section 4.3 — Bayesian Parameter Estimation (MAP &amp; Bayes estimators)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62363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C8197-8766-4143-6B72-69AA0EEC4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777740-D2A6-B4CB-C04E-EC4F9677A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Parameter Estimation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C47C26-C0C3-F64D-CC88-EA4AA30D7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4.3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DA191-33AA-CEA0-094E-FEA037979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086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A34CB-42E5-0100-7AA3-EC72686D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C944-0246-008D-7764-45D0A41D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vs. Bayesian: Core Idea</a:t>
            </a:r>
            <a:br>
              <a:rPr lang="en-US" sz="4400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53997-8AF0-DB14-10F7-C5E1AA617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19873BD-A7A6-1862-28C7-797ED161A845}"/>
              </a:ext>
            </a:extLst>
          </p:cNvPr>
          <p:cNvSpPr txBox="1">
            <a:spLocks/>
          </p:cNvSpPr>
          <p:nvPr/>
        </p:nvSpPr>
        <p:spPr>
          <a:xfrm>
            <a:off x="645131" y="1721224"/>
            <a:ext cx="5133099" cy="4684058"/>
          </a:xfrm>
          <a:prstGeom prst="rect">
            <a:avLst/>
          </a:prstGeom>
          <a:ln w="38100">
            <a:solidFill>
              <a:schemeClr val="tx1"/>
            </a:solidFill>
            <a:prstDash val="dash"/>
          </a:ln>
        </p:spPr>
        <p:txBody>
          <a:bodyPr vert="horz" lIns="91440" tIns="91440" rIns="91440" bIns="9144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Maximum Likelihood (ML)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Find the single best parameter value θ̂ to plug into the parametric density p(m | θ).
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 single point estimate θ̂
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Advantage: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Simpler — only find an extremum
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Cannot incorporate prior knowledge about θ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032D369-E023-27D0-8822-EB32E510CC51}"/>
              </a:ext>
            </a:extLst>
          </p:cNvPr>
          <p:cNvSpPr txBox="1">
            <a:spLocks/>
          </p:cNvSpPr>
          <p:nvPr/>
        </p:nvSpPr>
        <p:spPr>
          <a:xfrm>
            <a:off x="6494116" y="1730190"/>
            <a:ext cx="5133099" cy="4684058"/>
          </a:xfrm>
          <a:prstGeom prst="rect">
            <a:avLst/>
          </a:prstGeom>
          <a:ln w="38100">
            <a:solidFill>
              <a:schemeClr val="tx1"/>
            </a:solidFill>
            <a:prstDash val="dash"/>
          </a:ln>
        </p:spPr>
        <p:txBody>
          <a:bodyPr vert="horz" lIns="91440" tIns="91440" rIns="91440" bIns="9144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Bayesian Estimation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Compute the full a posteriori distribution p(θ | D) — not just a single value
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 complete posterior distribution
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Advantage: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Allows bringing in prior knowledge p(θ | ω)
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Requires numerical computation of multidimensional integrals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3EAD81-ACBD-4517-B355-920F33A8CBFC}"/>
              </a:ext>
            </a:extLst>
          </p:cNvPr>
          <p:cNvSpPr/>
          <p:nvPr/>
        </p:nvSpPr>
        <p:spPr>
          <a:xfrm>
            <a:off x="5737398" y="3580319"/>
            <a:ext cx="756718" cy="7679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38313015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C8F83-95AB-956C-A024-D4AE6860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50D5-92DE-0132-2B4D-45658178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via Minimizing Expected Cost</a:t>
            </a:r>
            <a:br>
              <a:rPr lang="en-US" sz="440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A1A4F-AAEE-01B0-D692-312525EF81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0" y="1853248"/>
                <a:ext cx="10545609" cy="1194752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Find θ̂(D) that minimizes the expected cost: 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𝑬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{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𝒍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𝜽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̂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𝑫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𝜽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) }</m:t>
                    </m:r>
                  </m:oMath>
                </a14:m>
                <a:endParaRPr lang="en-US" b="1" dirty="0"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θ is the a posteriori parameter,  “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𝑙</m:t>
                    </m:r>
                  </m:oMath>
                </a14:m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”  is a cost (loss) function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A1A4F-AAEE-01B0-D692-312525EF81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0" y="1853248"/>
                <a:ext cx="10545609" cy="1194752"/>
              </a:xfrm>
              <a:blipFill>
                <a:blip r:embed="rId2"/>
                <a:stretch>
                  <a:fillRect l="-231" t="-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BF173-1915-9BD6-9323-D24B5B205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572DDBD-7288-7837-73C2-4699A99D5F73}"/>
              </a:ext>
            </a:extLst>
          </p:cNvPr>
          <p:cNvSpPr txBox="1">
            <a:spLocks/>
          </p:cNvSpPr>
          <p:nvPr/>
        </p:nvSpPr>
        <p:spPr>
          <a:xfrm>
            <a:off x="645131" y="3048000"/>
            <a:ext cx="5450869" cy="3357282"/>
          </a:xfrm>
          <a:prstGeom prst="rect">
            <a:avLst/>
          </a:prstGeom>
          <a:ln w="38100">
            <a:solidFill>
              <a:schemeClr val="tx1"/>
            </a:solidFill>
            <a:prstDash val="dash"/>
          </a:ln>
        </p:spPr>
        <p:txBody>
          <a:bodyPr vert="horz" lIns="91440" tIns="91440" rIns="91440" bIns="9144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Squared Error</a:t>
            </a:r>
          </a:p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function:
</a:t>
            </a:r>
            <a:r>
              <a:rPr lang="en-US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l(θ̂, θ) = (θ̂ − θ)ᵀ(θ̂ − θ)
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E{ ‖θ̂(D) − θ‖² } gives:
</a:t>
            </a:r>
            <a:r>
              <a:rPr lang="en-US" b="1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θ̂(D) = E{ θ | D }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posteriori expectation of θ</a:t>
            </a:r>
            <a:endParaRPr lang="en-US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4949FB0-AF78-C993-7ABC-EF9BAACE9E30}"/>
              </a:ext>
            </a:extLst>
          </p:cNvPr>
          <p:cNvSpPr txBox="1">
            <a:spLocks/>
          </p:cNvSpPr>
          <p:nvPr/>
        </p:nvSpPr>
        <p:spPr>
          <a:xfrm>
            <a:off x="6176346" y="3056966"/>
            <a:ext cx="5450869" cy="3357282"/>
          </a:xfrm>
          <a:prstGeom prst="rect">
            <a:avLst/>
          </a:prstGeom>
          <a:ln w="38100">
            <a:solidFill>
              <a:schemeClr val="tx1"/>
            </a:solidFill>
            <a:prstDash val="dash"/>
          </a:ln>
        </p:spPr>
        <p:txBody>
          <a:bodyPr vert="horz" lIns="91440" tIns="91440" rIns="91440" bIns="9144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Constant Penalty (0/1 Loss)</a:t>
            </a:r>
          </a:p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function:
</a:t>
            </a:r>
            <a:r>
              <a:rPr lang="en-US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l(θ̂, θ) = 0  if ‖θ̂ − θ‖ &lt; Δ
  l(θ̂, θ) = 1  otherwise
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 Δ → 0, minimizing E{l} gives:
</a:t>
            </a:r>
            <a:r>
              <a:rPr lang="en-US" b="1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θ̂(D) = argmax p(θ | D)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Maximum A Posteriori (MAP) estimator</a:t>
            </a:r>
            <a:endParaRPr lang="en-US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8856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2E1B1-699C-49AB-81DF-3B95AA79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0AB8B-5871-BD6B-EBA3-FAAC991558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0" y="1780162"/>
                <a:ext cx="10545609" cy="120622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Imagine you are guessing the height of a person in “cm” based on some data.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And the Bayesian estimation give us the following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0AB8B-5871-BD6B-EBA3-FAAC991558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0" y="1780162"/>
                <a:ext cx="10545609" cy="1206229"/>
              </a:xfrm>
              <a:blipFill>
                <a:blip r:embed="rId2"/>
                <a:stretch>
                  <a:fillRect l="-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F9-F7DA-6AAE-0667-25CFA2450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33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7AAEF6A-FD73-4709-BC16-FDC2D79A97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4296693"/>
                  </p:ext>
                </p:extLst>
              </p:nvPr>
            </p:nvGraphicFramePr>
            <p:xfrm>
              <a:off x="8579796" y="3239130"/>
              <a:ext cx="3185268" cy="212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689">
                      <a:extLst>
                        <a:ext uri="{9D8B030D-6E8A-4147-A177-3AD203B41FA5}">
                          <a16:colId xmlns:a16="http://schemas.microsoft.com/office/drawing/2014/main" val="194928181"/>
                        </a:ext>
                      </a:extLst>
                    </a:gridCol>
                    <a:gridCol w="1852579">
                      <a:extLst>
                        <a:ext uri="{9D8B030D-6E8A-4147-A177-3AD203B41FA5}">
                          <a16:colId xmlns:a16="http://schemas.microsoft.com/office/drawing/2014/main" val="2191367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Height 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Probability 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𝐩</m:t>
                              </m:r>
                              <m:r>
                                <a:rPr lang="en-US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701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150 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3230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160 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20 %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1228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170 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40 %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71787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180 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30 %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25957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7AAEF6A-FD73-4709-BC16-FDC2D79A97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4296693"/>
                  </p:ext>
                </p:extLst>
              </p:nvPr>
            </p:nvGraphicFramePr>
            <p:xfrm>
              <a:off x="8579796" y="3239130"/>
              <a:ext cx="3185268" cy="212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689">
                      <a:extLst>
                        <a:ext uri="{9D8B030D-6E8A-4147-A177-3AD203B41FA5}">
                          <a16:colId xmlns:a16="http://schemas.microsoft.com/office/drawing/2014/main" val="194928181"/>
                        </a:ext>
                      </a:extLst>
                    </a:gridCol>
                    <a:gridCol w="1852579">
                      <a:extLst>
                        <a:ext uri="{9D8B030D-6E8A-4147-A177-3AD203B41FA5}">
                          <a16:colId xmlns:a16="http://schemas.microsoft.com/office/drawing/2014/main" val="219136709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57" t="-4762" r="-141096" b="-24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2368" t="-4762" r="-1645" b="-2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01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150 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3230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160 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20 %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1228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170 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40 %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71787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180 cm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30 %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25957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F9E85E3-6D4F-9552-5381-0853F23A7E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5130" y="3239130"/>
                <a:ext cx="3771225" cy="3243793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 lnSpcReduction="1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Least Squared Error</a:t>
                </a:r>
              </a:p>
              <a:p>
                <a:pPr marL="0" indent="0" algn="ctr">
                  <a:buNone/>
                </a:pPr>
                <a:r>
                  <a:rPr lang="en-US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Calculate the average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i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150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32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68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54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𝐋𝐒𝐄</m:t>
                    </m:r>
                    <m:r>
                      <a:rPr lang="en-US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𝐆𝐮𝐞𝐬𝐬</m:t>
                    </m:r>
                    <m:r>
                      <a:rPr lang="en-US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𝟑𝟐</m:t>
                    </m:r>
                    <m:r>
                      <a:rPr lang="en-US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𝟔𝟖</m:t>
                    </m:r>
                    <m:r>
                      <a:rPr lang="en-US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𝟓𝟒</m:t>
                    </m:r>
                    <m:r>
                      <a:rPr lang="en-US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𝟏𝟔𝟗</m:t>
                    </m:r>
                    <m:r>
                      <a:rPr lang="en-US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𝐜𝐦</m:t>
                    </m:r>
                  </m:oMath>
                </a14:m>
                <a:endParaRPr lang="en-US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F9E85E3-6D4F-9552-5381-0853F23A7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30" y="3239130"/>
                <a:ext cx="3771225" cy="3243793"/>
              </a:xfrm>
              <a:prstGeom prst="rect">
                <a:avLst/>
              </a:prstGeom>
              <a:blipFill>
                <a:blip r:embed="rId4"/>
                <a:stretch>
                  <a:fillRect l="-160" r="-160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F6F4355-8CE9-0048-8BE8-31A566E173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0377" y="3239130"/>
                <a:ext cx="3771225" cy="3243793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MAP</a:t>
                </a:r>
              </a:p>
              <a:p>
                <a:pPr marL="0" indent="0" algn="ctr">
                  <a:buNone/>
                </a:pPr>
                <a:r>
                  <a:rPr lang="en-US" b="1" dirty="0">
                    <a:latin typeface="Calibri" pitchFamily="34" charset="0"/>
                    <a:cs typeface="Calibri" pitchFamily="34" charset="-120"/>
                  </a:rPr>
                  <a:t>Find the most probable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%→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𝑒𝑠𝑡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b="1" dirty="0">
                    <a:solidFill>
                      <a:srgbClr val="FFC000"/>
                    </a:solidFill>
                  </a:rPr>
                  <a:t>MAP Guess = 170 cm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b="1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F6F4355-8CE9-0048-8BE8-31A566E17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377" y="3239130"/>
                <a:ext cx="3771225" cy="3243793"/>
              </a:xfrm>
              <a:prstGeom prst="rect">
                <a:avLst/>
              </a:prstGeom>
              <a:blipFill>
                <a:blip r:embed="rId5"/>
                <a:stretch>
                  <a:fillRect l="-160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6849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1DD4-EF7A-FBB6-593A-8E9E60AA5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9BFF0-C48E-C31A-65B7-6D870A580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Simple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99563-4923-1C56-5A1E-5D036AC2C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692613"/>
            <a:ext cx="10545609" cy="323904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C000"/>
                </a:solidFill>
              </a:rPr>
              <a:t>LSE: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Cares about being close on average.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To get the lowest squared error, we choose the average (mean) of the Bayesian spectrum.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C000"/>
                </a:solidFill>
              </a:rPr>
              <a:t>MAP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Care about being the most often exactly right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To get the lowest penalty, we need to choose the highest peak of the Bayesian spectrum.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437E4-0726-582E-015B-1F8D2B2BF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34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F1ED1-BB53-A794-7BC5-DBC80EBA4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027691"/>
              </p:ext>
            </p:extLst>
          </p:nvPr>
        </p:nvGraphicFramePr>
        <p:xfrm>
          <a:off x="1563185" y="5004752"/>
          <a:ext cx="8690042" cy="14736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6006">
                  <a:extLst>
                    <a:ext uri="{9D8B030D-6E8A-4147-A177-3AD203B41FA5}">
                      <a16:colId xmlns:a16="http://schemas.microsoft.com/office/drawing/2014/main" val="3943659436"/>
                    </a:ext>
                  </a:extLst>
                </a:gridCol>
                <a:gridCol w="7004036">
                  <a:extLst>
                    <a:ext uri="{9D8B030D-6E8A-4147-A177-3AD203B41FA5}">
                      <a16:colId xmlns:a16="http://schemas.microsoft.com/office/drawing/2014/main" val="4208019519"/>
                    </a:ext>
                  </a:extLst>
                </a:gridCol>
              </a:tblGrid>
              <a:tr h="491207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it does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369379"/>
                  </a:ext>
                </a:extLst>
              </a:tr>
              <a:tr h="491207">
                <a:tc>
                  <a:txBody>
                    <a:bodyPr/>
                    <a:lstStyle/>
                    <a:p>
                      <a:r>
                        <a:rPr lang="en-US" dirty="0"/>
                        <a:t>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Weighted average (Mean)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164761"/>
                  </a:ext>
                </a:extLst>
              </a:tr>
              <a:tr h="491207">
                <a:tc>
                  <a:txBody>
                    <a:bodyPr/>
                    <a:lstStyle/>
                    <a:p>
                      <a:r>
                        <a:rPr lang="en-US" dirty="0"/>
                        <a:t>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Pick the most likely single value (Mode)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200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608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470D5-6552-6D00-9538-D0D17FD1A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92D54-9F1E-19A9-505C-9CD1A85AD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26298" cy="1400530"/>
          </a:xfrm>
        </p:spPr>
        <p:txBody>
          <a:bodyPr/>
          <a:lstStyle/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</a:t>
            </a: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of Error in Bayesian Classification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B6670-531D-76AD-C087-36C28AD15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2014614"/>
            <a:ext cx="10545609" cy="67646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Bayesian classification is optimal — but not error-free. Three distinct error types arise: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D1EA9-7FD6-D002-F697-0205F536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37FCE75-A025-F5FA-3D05-BE72F2270B7A}"/>
              </a:ext>
            </a:extLst>
          </p:cNvPr>
          <p:cNvSpPr/>
          <p:nvPr/>
        </p:nvSpPr>
        <p:spPr>
          <a:xfrm>
            <a:off x="718873" y="2709369"/>
            <a:ext cx="10471865" cy="1024128"/>
          </a:xfrm>
          <a:prstGeom prst="rect">
            <a:avLst/>
          </a:prstGeom>
          <a:solidFill>
            <a:srgbClr val="F5F7F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B2AA41E-797A-0E43-18B1-38D99CF818DE}"/>
              </a:ext>
            </a:extLst>
          </p:cNvPr>
          <p:cNvSpPr/>
          <p:nvPr/>
        </p:nvSpPr>
        <p:spPr>
          <a:xfrm>
            <a:off x="718874" y="2709369"/>
            <a:ext cx="201168" cy="102412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7D10F79-B736-CF83-6CAC-53DFAC99980C}"/>
              </a:ext>
            </a:extLst>
          </p:cNvPr>
          <p:cNvSpPr/>
          <p:nvPr/>
        </p:nvSpPr>
        <p:spPr>
          <a:xfrm>
            <a:off x="1038914" y="2764233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/ Indistinguishability Error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AF36F03-974B-CF08-1F12-43DCD5357C68}"/>
              </a:ext>
            </a:extLst>
          </p:cNvPr>
          <p:cNvSpPr/>
          <p:nvPr/>
        </p:nvSpPr>
        <p:spPr>
          <a:xfrm>
            <a:off x="1038914" y="3075129"/>
            <a:ext cx="990886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class-specific feature distributions — at least two classes share feature values. Features are not perfectly discriminative. </a:t>
            </a:r>
            <a:r>
              <a:rPr lang="en-US" sz="2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r>
              <a:rPr lang="en-US" sz="2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Find more powerful features.</a:t>
            </a:r>
            <a:endParaRPr lang="en-US" sz="2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441181B-9CAE-4B95-586F-5126D5161EDC}"/>
              </a:ext>
            </a:extLst>
          </p:cNvPr>
          <p:cNvSpPr/>
          <p:nvPr/>
        </p:nvSpPr>
        <p:spPr>
          <a:xfrm>
            <a:off x="718873" y="3879801"/>
            <a:ext cx="10471865" cy="1278984"/>
          </a:xfrm>
          <a:prstGeom prst="rect">
            <a:avLst/>
          </a:prstGeom>
          <a:solidFill>
            <a:srgbClr val="F5F7F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E1BA363-64E5-E210-2303-CB7B86BE66E0}"/>
              </a:ext>
            </a:extLst>
          </p:cNvPr>
          <p:cNvSpPr/>
          <p:nvPr/>
        </p:nvSpPr>
        <p:spPr>
          <a:xfrm>
            <a:off x="718874" y="3879801"/>
            <a:ext cx="201168" cy="1278984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D171755-78BE-2DFD-1D5A-816666FA4BCF}"/>
              </a:ext>
            </a:extLst>
          </p:cNvPr>
          <p:cNvSpPr/>
          <p:nvPr/>
        </p:nvSpPr>
        <p:spPr>
          <a:xfrm>
            <a:off x="1038914" y="3934665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Error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7A4CCCE-C7D4-7F35-6899-6AF69305AF87}"/>
              </a:ext>
            </a:extLst>
          </p:cNvPr>
          <p:cNvSpPr/>
          <p:nvPr/>
        </p:nvSpPr>
        <p:spPr>
          <a:xfrm>
            <a:off x="1038914" y="4245561"/>
            <a:ext cx="9908862" cy="822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unsuitable parametric model was chosen (e.g., assumed Gaussian but data is uniform). Estimation runs but produces results for the wrong model. </a:t>
            </a:r>
            <a:r>
              <a:rPr lang="en-US" sz="2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r>
              <a:rPr lang="en-US" sz="2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Expert knowledge + model-fit tests.</a:t>
            </a:r>
            <a:endParaRPr lang="en-US" sz="2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4C22AD0-C5C3-31A8-58B3-FB2E08E14532}"/>
              </a:ext>
            </a:extLst>
          </p:cNvPr>
          <p:cNvSpPr/>
          <p:nvPr/>
        </p:nvSpPr>
        <p:spPr>
          <a:xfrm>
            <a:off x="718873" y="5269688"/>
            <a:ext cx="10471865" cy="1403486"/>
          </a:xfrm>
          <a:prstGeom prst="rect">
            <a:avLst/>
          </a:prstGeom>
          <a:solidFill>
            <a:srgbClr val="F5F7F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C1FE564-68BE-000A-F3EF-B88920ACF75F}"/>
              </a:ext>
            </a:extLst>
          </p:cNvPr>
          <p:cNvSpPr/>
          <p:nvPr/>
        </p:nvSpPr>
        <p:spPr>
          <a:xfrm>
            <a:off x="718874" y="5269688"/>
            <a:ext cx="201168" cy="1403486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537AF5A-192F-8D4E-76A0-91D520A5A729}"/>
              </a:ext>
            </a:extLst>
          </p:cNvPr>
          <p:cNvSpPr/>
          <p:nvPr/>
        </p:nvSpPr>
        <p:spPr>
          <a:xfrm>
            <a:off x="1038914" y="5324552"/>
            <a:ext cx="8046720" cy="324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A6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Error</a:t>
            </a:r>
            <a:endParaRPr lang="en-US" sz="2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CC2F1B7-1989-5F92-6BFC-C2E687D2FCB5}"/>
              </a:ext>
            </a:extLst>
          </p:cNvPr>
          <p:cNvSpPr/>
          <p:nvPr/>
        </p:nvSpPr>
        <p:spPr>
          <a:xfrm>
            <a:off x="1038914" y="5635448"/>
            <a:ext cx="9908862" cy="9268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samples relative to the number of parameters — estimates become unreliable. </a:t>
            </a:r>
            <a:r>
              <a:rPr lang="en-US" sz="2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Remedy</a:t>
            </a:r>
            <a:r>
              <a:rPr lang="en-US" sz="2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gather more samples (costly) or reduce the number of parameters (limited by feature quality).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896617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9E3F0-30BC-6D4F-2151-890376E0E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CFEBA-3F94-8755-68E6-6E63BAA76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MLE and MAP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27722-C860-F07A-A467-72D18987C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853248"/>
            <a:ext cx="10545609" cy="455203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8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≠ ML: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yields a full posterior distribution, not a single point estimate.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8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knowledge: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Bayesian approach naturally incorporates prior p(θ | ω); ML does not.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8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functions: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loss functions lead to different estimators (LSE → posterior mean; 0/1 → MAP).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8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estimator: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θ̂ = argmax p(θ | D) — maximizes the posterior; bridges Bayesian and ML thinking.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8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error types: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Indistinguishability · Model · Estimation — each requires a different remedy.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06414-6FEF-8FA0-FE56-167B3080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3552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5BADF5-901B-3C1C-9139-CC2209E88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000" dirty="0"/>
              <a:t>MLE vs MAP</a:t>
            </a:r>
            <a:br>
              <a:rPr lang="en-US" sz="5000" dirty="0"/>
            </a:br>
            <a:endParaRPr lang="en-US" sz="5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A550D1-327B-C297-9227-D68925565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B2D55-4FBC-9614-F647-4CB5BB1DA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194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D9CCC-853D-598D-8C2D-B4121C846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E64FB-B778-4093-2901-9FB0AEAA0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Estimation: MLE vs MAP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EFF179-3341-6C65-4D9A-396E246DE5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0" y="1935804"/>
                <a:ext cx="10545609" cy="469846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Imagine you have a coin, and you want to estimate its probability of landing heads, which we will call </a:t>
                </a:r>
                <a:r>
                  <a:rPr lang="en-US" b="1" dirty="0"/>
                  <a:t>θ</a:t>
                </a:r>
                <a:r>
                  <a:rPr lang="en-US" dirty="0"/>
                  <a:t>. 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You flip the coin 10 times, and it lands on heads </a:t>
                </a:r>
                <a:r>
                  <a:rPr lang="en-US" b="1" dirty="0"/>
                  <a:t>7 times</a:t>
                </a:r>
                <a:r>
                  <a:rPr lang="en-US" dirty="0"/>
                  <a:t> (and tails 3 times).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b="1" dirty="0">
                    <a:solidFill>
                      <a:srgbClr val="FFC000"/>
                    </a:solidFill>
                  </a:rPr>
                  <a:t>Maximum Likelihood Estimation (MLE)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MLE only cares about the data you just observed. 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It asks: </a:t>
                </a:r>
                <a:r>
                  <a:rPr lang="en-US" i="1" dirty="0"/>
                  <a:t>"What value of θ makes getting 7 heads out of 10 flips most likely?"</a:t>
                </a:r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The probability of getting 7 heads out of 10 flips follows a Binomial distribution: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EFF179-3341-6C65-4D9A-396E246DE5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0" y="1935804"/>
                <a:ext cx="10545609" cy="4698460"/>
              </a:xfrm>
              <a:blipFill>
                <a:blip r:embed="rId2"/>
                <a:stretch>
                  <a:fillRect l="-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0A3D4-7213-F7FE-F285-87301E291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80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4EC27-63C1-4567-0068-F79B70D3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8973-9E89-0FAE-C8CE-C401F4720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Estimation: MLE vs MAP</a:t>
            </a:r>
            <a:br>
              <a:rPr lang="en-US" dirty="0"/>
            </a:br>
            <a:r>
              <a:rPr lang="en-US" sz="3000" b="1" dirty="0">
                <a:solidFill>
                  <a:srgbClr val="FFC000"/>
                </a:solidFill>
              </a:rPr>
              <a:t>Maximum Likelihood Estimation (MLE)</a:t>
            </a:r>
            <a:br>
              <a:rPr lang="en-US" sz="3000" b="1" dirty="0">
                <a:solidFill>
                  <a:srgbClr val="FFC000"/>
                </a:solidFill>
              </a:rPr>
            </a:b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7617A-1F3A-C85F-DF9D-09727C34FF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0" y="1935804"/>
                <a:ext cx="10545609" cy="4626467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6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To find the maximum, we take the log (to make the math easier), take the derivative with respect to θ, and set it to 0.</a:t>
                </a:r>
              </a:p>
              <a:p>
                <a:pPr marL="457200" indent="-45720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en-US" b="1" dirty="0"/>
                  <a:t>Log-Likelihood: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dirty="0"/>
                  <a:t>ln P(Data | </a:t>
                </a:r>
                <a:r>
                  <a:rPr lang="el-GR" dirty="0"/>
                  <a:t>θ) = </a:t>
                </a:r>
                <a:r>
                  <a:rPr lang="en-US" dirty="0"/>
                  <a:t>ln(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) + 7 ln(</a:t>
                </a:r>
                <a:r>
                  <a:rPr lang="el-GR" dirty="0"/>
                  <a:t>θ) + 3 </a:t>
                </a:r>
                <a:r>
                  <a:rPr lang="en-US" dirty="0"/>
                  <a:t>ln(1 - </a:t>
                </a:r>
                <a:r>
                  <a:rPr lang="el-GR" dirty="0"/>
                  <a:t>θ)</a:t>
                </a:r>
              </a:p>
              <a:p>
                <a:pPr marL="457200" indent="-457200">
                  <a:lnSpc>
                    <a:spcPct val="110000"/>
                  </a:lnSpc>
                  <a:buFont typeface="+mj-lt"/>
                  <a:buAutoNum type="arabicPeriod" startAt="2"/>
                </a:pPr>
                <a:r>
                  <a:rPr lang="en-US" b="1" dirty="0"/>
                  <a:t>Take the Derivative: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dirty="0"/>
                  <a:t>d/d</a:t>
                </a:r>
                <a:r>
                  <a:rPr lang="el-GR" dirty="0"/>
                  <a:t>θ [</a:t>
                </a:r>
                <a:r>
                  <a:rPr lang="en-US" dirty="0"/>
                  <a:t>ln P(Data | </a:t>
                </a:r>
                <a:r>
                  <a:rPr lang="el-GR" dirty="0"/>
                  <a:t>θ)] = 7/θ - 3/(1 - θ)</a:t>
                </a:r>
              </a:p>
              <a:p>
                <a:pPr marL="457200" indent="-457200">
                  <a:lnSpc>
                    <a:spcPct val="110000"/>
                  </a:lnSpc>
                  <a:buFont typeface="+mj-lt"/>
                  <a:buAutoNum type="arabicPeriod" startAt="3"/>
                </a:pPr>
                <a:r>
                  <a:rPr lang="en-US" b="1" dirty="0"/>
                  <a:t>Set to Zero and Solve: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l-GR" dirty="0"/>
                  <a:t>7/θ = 3/(1 - θ)</a:t>
                </a:r>
                <a:r>
                  <a:rPr lang="en-US" dirty="0"/>
                  <a:t>   </a:t>
                </a:r>
                <a:r>
                  <a:rPr lang="en-US" sz="2600" b="1" dirty="0">
                    <a:solidFill>
                      <a:srgbClr val="FFC000"/>
                    </a:solidFill>
                  </a:rPr>
                  <a:t>→</a:t>
                </a:r>
                <a:r>
                  <a:rPr lang="en-US" dirty="0"/>
                  <a:t>  </a:t>
                </a:r>
                <a:r>
                  <a:rPr lang="el-GR" dirty="0"/>
                  <a:t>7(1 - θ) = 3θ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C000"/>
                    </a:solidFill>
                  </a:rPr>
                  <a:t>→</a:t>
                </a:r>
                <a:r>
                  <a:rPr lang="en-US" dirty="0"/>
                  <a:t>   </a:t>
                </a:r>
                <a:r>
                  <a:rPr lang="el-GR" dirty="0"/>
                  <a:t>7 - 7θ = 3θ ⇒ 10θ = 7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C000"/>
                    </a:solidFill>
                  </a:rPr>
                  <a:t>→</a:t>
                </a:r>
                <a:r>
                  <a:rPr lang="en-US" dirty="0"/>
                  <a:t>  </a:t>
                </a:r>
                <a:r>
                  <a:rPr lang="el-GR" b="1" dirty="0"/>
                  <a:t>θ</a:t>
                </a:r>
                <a:r>
                  <a:rPr lang="en-US" b="1" baseline="-25000" dirty="0"/>
                  <a:t>MLE</a:t>
                </a:r>
                <a:r>
                  <a:rPr lang="en-US" b="1" dirty="0"/>
                  <a:t> = 0.7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b="1" dirty="0"/>
                  <a:t>MLE Result:</a:t>
                </a:r>
                <a:r>
                  <a:rPr lang="en-US" dirty="0"/>
                  <a:t> The coin has a </a:t>
                </a:r>
                <a:r>
                  <a:rPr lang="en-US" b="1" dirty="0"/>
                  <a:t>70%</a:t>
                </a:r>
                <a:r>
                  <a:rPr lang="en-US" dirty="0"/>
                  <a:t> chance of landing heads. It bases this purely on the data.</a:t>
                </a:r>
                <a:br>
                  <a:rPr lang="el-GR" dirty="0"/>
                </a:br>
                <a:endParaRPr lang="en-US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7617A-1F3A-C85F-DF9D-09727C34FF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0" y="1935804"/>
                <a:ext cx="10545609" cy="4626467"/>
              </a:xfrm>
              <a:blipFill>
                <a:blip r:embed="rId2"/>
                <a:stretch>
                  <a:fillRect l="-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6D790-24C9-6C0F-ACDF-E25EF2615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0217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BB797-0506-0EF5-3168-DDE9B2200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0CF7E-24A5-B6E9-7323-6ED091AE3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Estimation: MLE vs MAP</a:t>
            </a:r>
            <a:br>
              <a:rPr lang="en-US" dirty="0"/>
            </a:br>
            <a:r>
              <a:rPr lang="en-US" sz="3000" b="1" dirty="0">
                <a:solidFill>
                  <a:srgbClr val="FFC000"/>
                </a:solidFill>
              </a:rPr>
              <a:t>Maximum A Posteriori (MAP)</a:t>
            </a:r>
            <a:br>
              <a:rPr lang="en-US" b="1" dirty="0">
                <a:solidFill>
                  <a:srgbClr val="FFC000"/>
                </a:solidFill>
              </a:rPr>
            </a:b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138A41-22CD-A18E-29CF-A6DF255D32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130" y="1935804"/>
                <a:ext cx="10545609" cy="4312595"/>
              </a:xfrm>
            </p:spPr>
            <p:txBody>
              <a:bodyPr>
                <a:normAutofit fontScale="92500" lnSpcReduction="10000"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b="1" dirty="0">
                    <a:solidFill>
                      <a:srgbClr val="FFC000"/>
                    </a:solidFill>
                  </a:rPr>
                  <a:t>Maximum A Posteriori (MAP)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MAP introduces a </a:t>
                </a:r>
                <a:r>
                  <a:rPr lang="en-US" b="1" dirty="0"/>
                  <a:t>prior belief</a:t>
                </a:r>
                <a:r>
                  <a:rPr lang="en-US" dirty="0"/>
                  <a:t>. Let’s say you are pretty sure this is a fair coin, so you expect θ to be around 0.5.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We can represent this prior belief using a Beta distribution. Let's pick a prior that acts like 4 "imaginary" flips (2 heads, 2 tails). This pushes our estimate toward 0.5.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i="1" dirty="0"/>
                  <a:t>Prior function:</a:t>
                </a:r>
                <a:r>
                  <a:rPr lang="en-US" dirty="0"/>
                  <a:t> P(θ) ∝ θ</a:t>
                </a:r>
                <a:r>
                  <a:rPr lang="en-US" baseline="30000" dirty="0"/>
                  <a:t>2</a:t>
                </a:r>
                <a:r>
                  <a:rPr lang="en-US" dirty="0"/>
                  <a:t> (1 - θ)</a:t>
                </a:r>
                <a:r>
                  <a:rPr lang="en-US" baseline="30000" dirty="0"/>
                  <a:t>2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P(</a:t>
                </a:r>
                <a:r>
                  <a:rPr lang="el-GR" dirty="0"/>
                  <a:t>θ | </a:t>
                </a:r>
                <a:r>
                  <a:rPr lang="en-US" dirty="0"/>
                  <a:t>Data) ∝ [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dirty="0"/>
                  <a:t>θ</a:t>
                </a:r>
                <a:r>
                  <a:rPr lang="el-GR" baseline="30000" dirty="0"/>
                  <a:t>7</a:t>
                </a:r>
                <a:r>
                  <a:rPr lang="el-GR" dirty="0"/>
                  <a:t> (1 - θ)</a:t>
                </a:r>
                <a:r>
                  <a:rPr lang="el-GR" baseline="30000" dirty="0"/>
                  <a:t>3</a:t>
                </a:r>
                <a:r>
                  <a:rPr lang="el-GR" dirty="0"/>
                  <a:t> ] × [ θ</a:t>
                </a:r>
                <a:r>
                  <a:rPr lang="el-GR" baseline="30000" dirty="0"/>
                  <a:t>2</a:t>
                </a:r>
                <a:r>
                  <a:rPr lang="el-GR" dirty="0"/>
                  <a:t> (1 - θ)</a:t>
                </a:r>
                <a:r>
                  <a:rPr lang="el-GR" baseline="30000" dirty="0"/>
                  <a:t>2</a:t>
                </a:r>
                <a:r>
                  <a:rPr lang="el-GR" dirty="0"/>
                  <a:t> ] = θ</a:t>
                </a:r>
                <a:r>
                  <a:rPr lang="el-GR" baseline="30000" dirty="0"/>
                  <a:t>9</a:t>
                </a:r>
                <a:r>
                  <a:rPr lang="el-GR" dirty="0"/>
                  <a:t> (1 - θ)</a:t>
                </a:r>
                <a:r>
                  <a:rPr lang="el-GR" baseline="30000" dirty="0"/>
                  <a:t>5</a:t>
                </a:r>
                <a:endParaRPr lang="el-GR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Notice how the exponents just added together? It's like we now have 9 heads and 5 tails total.</a:t>
                </a:r>
                <a:br>
                  <a:rPr lang="el-GR" dirty="0"/>
                </a:br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138A41-22CD-A18E-29CF-A6DF255D32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30" y="1935804"/>
                <a:ext cx="10545609" cy="4312595"/>
              </a:xfrm>
              <a:blipFill>
                <a:blip r:embed="rId2"/>
                <a:stretch>
                  <a:fillRect l="-289" t="-1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67E2D-5AAA-3179-5F9F-1F854756C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4344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CBFEB-D057-56F1-4E72-BAE462451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1DA6E-B199-B58A-56B4-1320EFFBF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Estimation: MLE vs MAP</a:t>
            </a:r>
            <a:br>
              <a:rPr lang="en-US" dirty="0"/>
            </a:br>
            <a:r>
              <a:rPr lang="en-US" sz="3000" b="1" dirty="0">
                <a:solidFill>
                  <a:srgbClr val="FFC000"/>
                </a:solidFill>
              </a:rPr>
              <a:t>Maximum A Posteriori (MAP)</a:t>
            </a:r>
            <a:br>
              <a:rPr lang="en-US" b="1" dirty="0">
                <a:solidFill>
                  <a:srgbClr val="FFC000"/>
                </a:solidFill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D747E-AF7E-03F4-B84D-772C7C3B1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935804"/>
            <a:ext cx="10545609" cy="431259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Log-Posterior: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ln P(</a:t>
            </a:r>
            <a:r>
              <a:rPr lang="el-GR" dirty="0"/>
              <a:t>θ | </a:t>
            </a:r>
            <a:r>
              <a:rPr lang="en-US" dirty="0"/>
              <a:t>Data) = 9 ln(</a:t>
            </a:r>
            <a:r>
              <a:rPr lang="el-GR" dirty="0"/>
              <a:t>θ) + 5 </a:t>
            </a:r>
            <a:r>
              <a:rPr lang="en-US" dirty="0"/>
              <a:t>ln(1 - </a:t>
            </a:r>
            <a:r>
              <a:rPr lang="el-GR" dirty="0"/>
              <a:t>θ) + </a:t>
            </a:r>
            <a:r>
              <a:rPr lang="en-US" dirty="0"/>
              <a:t>constant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en-US" b="1" dirty="0"/>
              <a:t>Take the Derivative: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d/d</a:t>
            </a:r>
            <a:r>
              <a:rPr lang="el-GR" dirty="0"/>
              <a:t>θ [</a:t>
            </a:r>
            <a:r>
              <a:rPr lang="en-US" dirty="0"/>
              <a:t>ln P(</a:t>
            </a:r>
            <a:r>
              <a:rPr lang="el-GR" dirty="0"/>
              <a:t>θ | </a:t>
            </a:r>
            <a:r>
              <a:rPr lang="en-US" dirty="0"/>
              <a:t>Data)] = 9/</a:t>
            </a:r>
            <a:r>
              <a:rPr lang="el-GR" dirty="0"/>
              <a:t>θ - 5/(1 - θ)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b="1" dirty="0"/>
              <a:t>Set to Zero and Solve: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l-GR" dirty="0"/>
              <a:t>9/θ = 5/(1 - θ)</a:t>
            </a: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</a:rPr>
              <a:t>→  </a:t>
            </a:r>
            <a:r>
              <a:rPr lang="el-GR" dirty="0"/>
              <a:t>9(1 - θ) = 5θ</a:t>
            </a:r>
            <a:r>
              <a:rPr lang="en-US" dirty="0"/>
              <a:t>  </a:t>
            </a:r>
            <a:r>
              <a:rPr lang="en-US" b="1" dirty="0">
                <a:solidFill>
                  <a:srgbClr val="FFC000"/>
                </a:solidFill>
              </a:rPr>
              <a:t>→  </a:t>
            </a:r>
            <a:r>
              <a:rPr lang="el-GR" dirty="0"/>
              <a:t>9 - 9θ = 5θ ⇒ 14θ = 9</a:t>
            </a: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</a:rPr>
              <a:t>→  </a:t>
            </a:r>
            <a:r>
              <a:rPr lang="el-GR" b="1" dirty="0"/>
              <a:t>θ</a:t>
            </a:r>
            <a:r>
              <a:rPr lang="en-US" b="1" baseline="-25000" dirty="0"/>
              <a:t>MAP</a:t>
            </a:r>
            <a:r>
              <a:rPr lang="en-US" b="1" dirty="0"/>
              <a:t> = 9/14 ≈ 0.643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MAP Result:</a:t>
            </a:r>
            <a:r>
              <a:rPr lang="en-US" dirty="0"/>
              <a:t> The coin has roughly a </a:t>
            </a:r>
            <a:r>
              <a:rPr lang="en-US" b="1" dirty="0"/>
              <a:t>64.3%</a:t>
            </a:r>
            <a:r>
              <a:rPr lang="en-US" dirty="0"/>
              <a:t> chance of landing heads.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CDF5A-6F35-1AAB-B1FE-820DBF3A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1250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9E951-98A4-F142-D2F1-FA3A424F5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A6FE3-71F5-36B0-7FEB-EDA3F4FAC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Estimation: MLE vs MAP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015F5-3F14-B2DE-C706-068E3BDD1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195" y="4535676"/>
            <a:ext cx="10545609" cy="202659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Summary of Difference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If you flipped the coin 10,000 times instead of 10, the sheer amount of data would completely overwhelm the prior, and MAP would converge to the exact same answer as MLE.</a:t>
            </a:r>
            <a:endParaRPr lang="en-US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67757-95AC-5EF4-69AA-4F6879BA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42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363624-DDBF-E445-A2C3-A46C30E6A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420465"/>
              </p:ext>
            </p:extLst>
          </p:nvPr>
        </p:nvGraphicFramePr>
        <p:xfrm>
          <a:off x="823196" y="2108784"/>
          <a:ext cx="10545608" cy="2171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974">
                  <a:extLst>
                    <a:ext uri="{9D8B030D-6E8A-4147-A177-3AD203B41FA5}">
                      <a16:colId xmlns:a16="http://schemas.microsoft.com/office/drawing/2014/main" val="3360696972"/>
                    </a:ext>
                  </a:extLst>
                </a:gridCol>
                <a:gridCol w="2636196">
                  <a:extLst>
                    <a:ext uri="{9D8B030D-6E8A-4147-A177-3AD203B41FA5}">
                      <a16:colId xmlns:a16="http://schemas.microsoft.com/office/drawing/2014/main" val="1680992707"/>
                    </a:ext>
                  </a:extLst>
                </a:gridCol>
                <a:gridCol w="1536970">
                  <a:extLst>
                    <a:ext uri="{9D8B030D-6E8A-4147-A177-3AD203B41FA5}">
                      <a16:colId xmlns:a16="http://schemas.microsoft.com/office/drawing/2014/main" val="2387969034"/>
                    </a:ext>
                  </a:extLst>
                </a:gridCol>
                <a:gridCol w="5201468">
                  <a:extLst>
                    <a:ext uri="{9D8B030D-6E8A-4147-A177-3AD203B41FA5}">
                      <a16:colId xmlns:a16="http://schemas.microsoft.com/office/drawing/2014/main" val="791362802"/>
                    </a:ext>
                  </a:extLst>
                </a:gridCol>
              </a:tblGrid>
              <a:tr h="4156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Method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Formula to Maximize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Our Result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Explanation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079643774"/>
                  </a:ext>
                </a:extLst>
              </a:tr>
              <a:tr h="6233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MLE</a:t>
                      </a:r>
                      <a:endParaRPr lang="en-US">
                        <a:effectLst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P(Data | </a:t>
                      </a:r>
                      <a:r>
                        <a:rPr lang="el-GR">
                          <a:effectLst/>
                        </a:rPr>
                        <a:t>θ)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0.700</a:t>
                      </a:r>
                      <a:endParaRPr lang="en-US">
                        <a:effectLst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Strictly trusts the 10 real flips.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743157694"/>
                  </a:ext>
                </a:extLst>
              </a:tr>
              <a:tr h="109082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MAP</a:t>
                      </a:r>
                      <a:endParaRPr lang="en-US">
                        <a:effectLst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nn-NO" dirty="0">
                          <a:effectLst/>
                        </a:rPr>
                        <a:t>P(Data | θ) P(θ)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0.643</a:t>
                      </a:r>
                      <a:endParaRPr lang="en-US">
                        <a:effectLst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Drags the result closer to 0.5 because of our prior skepticism.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519925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780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C5832-55E2-507E-7906-52ACD266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350C1C-3D3A-4574-ABB1-98CD4AF86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Estimation for Gaussian Mixtures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43E7F2-0584-19B4-FA34-655026699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4.5</a:t>
            </a:r>
          </a:p>
          <a:p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Expectation-Maximization (EM) Algorithm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B1F6A-2A33-4D9B-FA1A-15464043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9708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630C-5995-33B6-56D3-9F2E3CBA3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7F60-CF0A-0C01-9397-CFF1B5954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Mixture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E674F-5E49-2C5E-00F9-A805123E4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44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D702BC6-2FAA-A88D-9794-ED75759A43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4506" y="1721224"/>
                <a:ext cx="5133099" cy="3657600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 fontScale="92500" lnSpcReduction="2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The Density</a:t>
                </a:r>
                <a:endParaRPr lang="en-US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b="1" dirty="0"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For each sample point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∗ 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 mixture components, each a Gaussian</a:t>
                </a:r>
                <a:endParaRPr lang="en-US" dirty="0"/>
              </a:p>
              <a:p>
                <a:pPr>
                  <a:lnSpc>
                    <a:spcPct val="120000"/>
                  </a:lnSpc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Zₖ = mixing coefficients (weights, sum to 1)</a:t>
                </a:r>
                <a:endParaRPr lang="en-US" dirty="0"/>
              </a:p>
              <a:p>
                <a:pPr>
                  <a:lnSpc>
                    <a:spcPct val="120000"/>
                  </a:lnSpc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μₖ = component means</a:t>
                </a:r>
                <a:endParaRPr lang="en-US" dirty="0"/>
              </a:p>
              <a:p>
                <a:pPr>
                  <a:lnSpc>
                    <a:spcPct val="120000"/>
                  </a:lnSpc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Σₖ = component covariances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D702BC6-2FAA-A88D-9794-ED75759A4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06" y="1721224"/>
                <a:ext cx="5133099" cy="3657600"/>
              </a:xfrm>
              <a:prstGeom prst="rect">
                <a:avLst/>
              </a:prstGeom>
              <a:blipFill>
                <a:blip r:embed="rId2"/>
                <a:stretch>
                  <a:fillRect l="-590" b="-330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3D4ED4E-DAC1-415C-DF1A-138FBA6617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721224"/>
                <a:ext cx="5133099" cy="3657600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The Challenge</a:t>
                </a:r>
                <a:endParaRPr lang="ar-SA" b="1" dirty="0"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>
                  <a:lnSpc>
                    <a:spcPct val="150000"/>
                  </a:lnSpc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Log-likelihood is analytically intractable:</a:t>
                </a:r>
              </a:p>
              <a:p>
                <a:pPr marL="0" indent="0">
                  <a:lnSpc>
                    <a:spcPct val="150000"/>
                  </a:lnSpc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∗ 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Singularities arise when μₖ collapses onto a datapoint xᵢ — likelihood blows up to ∞</a:t>
                </a:r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3D4ED4E-DAC1-415C-DF1A-138FBA661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721224"/>
                <a:ext cx="5133099" cy="3657600"/>
              </a:xfrm>
              <a:prstGeom prst="rect">
                <a:avLst/>
              </a:prstGeom>
              <a:blipFill>
                <a:blip r:embed="rId3"/>
                <a:stretch>
                  <a:fillRect l="-708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5D5C83C-A540-387C-C691-A76315A02C57}"/>
              </a:ext>
            </a:extLst>
          </p:cNvPr>
          <p:cNvSpPr txBox="1">
            <a:spLocks/>
          </p:cNvSpPr>
          <p:nvPr/>
        </p:nvSpPr>
        <p:spPr>
          <a:xfrm rot="10800000" flipV="1">
            <a:off x="804506" y="5535706"/>
            <a:ext cx="10424593" cy="1111623"/>
          </a:xfrm>
          <a:prstGeom prst="rect">
            <a:avLst/>
          </a:prstGeom>
          <a:ln w="38100">
            <a:solidFill>
              <a:schemeClr val="tx1"/>
            </a:solidFill>
            <a:prstDash val="dash"/>
          </a:ln>
        </p:spPr>
        <p:txBody>
          <a:bodyPr vert="horz" lIns="91440" tIns="91440" rIns="91440" bIns="9144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Expectation-Maximization (EM) Algorithm — iteratively maximizes likelihood in a probabilistically sound way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8698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282F-A6DF-C101-2439-C20CA4801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28610"/>
          </a:xfrm>
        </p:spPr>
        <p:txBody>
          <a:bodyPr/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Jensen's Inequality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EE54DC-9057-91E4-974F-A1DBEB8517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7201" y="1785657"/>
                <a:ext cx="6222597" cy="4619625"/>
              </a:xfrm>
              <a:ln w="38100">
                <a:solidFill>
                  <a:schemeClr val="tx1">
                    <a:lumMod val="95000"/>
                  </a:schemeClr>
                </a:solidFill>
                <a:prstDash val="sysDash"/>
              </a:ln>
            </p:spPr>
            <p:txBody>
              <a:bodyPr tIns="182880"/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Let </a:t>
                </a:r>
                <a:r>
                  <a:rPr lang="en-US" i="1" dirty="0"/>
                  <a:t>x </a:t>
                </a:r>
                <a:r>
                  <a:rPr lang="en-US" dirty="0"/>
                  <a:t>be an integrable random variable and </a:t>
                </a:r>
                <a:r>
                  <a:rPr lang="en-US" i="1" dirty="0"/>
                  <a:t>f </a:t>
                </a:r>
                <a:r>
                  <a:rPr lang="en-US" dirty="0"/>
                  <a:t>: ℝ → ℝ a concave function.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US" dirty="0"/>
                  <a:t>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log- likelihood for GMM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sub>
                                <m:sup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𝑛𝑘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 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sub>
                                        <m:sup/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nary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𝑛𝑘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</m:e>
                              </m:nary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EE54DC-9057-91E4-974F-A1DBEB8517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7201" y="1785657"/>
                <a:ext cx="6222597" cy="4619625"/>
              </a:xfrm>
              <a:blipFill>
                <a:blip r:embed="rId2"/>
                <a:stretch>
                  <a:fillRect l="-97" r="-1754"/>
                </a:stretch>
              </a:blipFill>
              <a:ln w="38100">
                <a:solidFill>
                  <a:schemeClr val="tx1">
                    <a:lumMod val="95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91212-C59F-BAB5-FEC0-47DEC7928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45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1DB9854-C525-9D86-25A1-9CD31AFF9E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49440" y="1785657"/>
                <a:ext cx="4635359" cy="4619625"/>
              </a:xfrm>
              <a:prstGeom prst="rect">
                <a:avLst/>
              </a:prstGeom>
              <a:ln w="38100">
                <a:solidFill>
                  <a:schemeClr val="tx1">
                    <a:lumMod val="95000"/>
                  </a:schemeClr>
                </a:solidFill>
                <a:prstDash val="sysDash"/>
              </a:ln>
            </p:spPr>
            <p:txBody>
              <a:bodyPr vert="horz" lIns="91440" tIns="18288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Example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𝑝𝑟𝑜𝑏𝑎𝑏𝑖𝑙𝑖𝑡𝑦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𝑝𝑟𝑜𝑏𝑎𝑏𝑖𝑙𝑖𝑡𝑦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1DB9854-C525-9D86-25A1-9CD31AFF9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440" y="1785657"/>
                <a:ext cx="4635359" cy="4619625"/>
              </a:xfrm>
              <a:prstGeom prst="rect">
                <a:avLst/>
              </a:prstGeom>
              <a:blipFill>
                <a:blip r:embed="rId3"/>
                <a:stretch>
                  <a:fillRect l="-131"/>
                </a:stretch>
              </a:blipFill>
              <a:ln w="38100">
                <a:solidFill>
                  <a:schemeClr val="tx1">
                    <a:lumMod val="95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6BA3483-45A7-EDB9-1256-0554B9BFF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966" y="3429000"/>
            <a:ext cx="4422305" cy="285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884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547AF-D11A-4D3C-FD06-D68FF5D8D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for E-step and M-step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3775F18-79C3-15C8-BD27-EF4F3E25BF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9859" y="1568543"/>
            <a:ext cx="8091094" cy="512772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D5860-6E99-F38C-1761-8ACA9DC83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46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AA2E65-B26B-4D3F-6FF0-7FB8F2D1F2CD}"/>
                  </a:ext>
                </a:extLst>
              </p:cNvPr>
              <p:cNvSpPr txBox="1"/>
              <p:nvPr/>
            </p:nvSpPr>
            <p:spPr>
              <a:xfrm>
                <a:off x="4594741" y="4324574"/>
                <a:ext cx="753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AA2E65-B26B-4D3F-6FF0-7FB8F2D1F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741" y="4324574"/>
                <a:ext cx="753731" cy="369332"/>
              </a:xfrm>
              <a:prstGeom prst="rect">
                <a:avLst/>
              </a:prstGeom>
              <a:blipFill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39673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3585A-44A2-9666-3070-5A94C6DC0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F87F-044A-1EF3-5547-42BA91627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706429" cy="1400530"/>
          </a:xfrm>
        </p:spPr>
        <p:txBody>
          <a:bodyPr/>
          <a:lstStyle/>
          <a:p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Variable View of Mixture Models</a:t>
            </a:r>
            <a:br>
              <a:rPr lang="en-US" sz="440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A0CA1A-C7C6-9135-09F2-A0553673E2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6111" y="3595105"/>
                <a:ext cx="10545609" cy="3133271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The Responsibility γ(zₙₖ)</a:t>
                </a: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m:t>posterior</m:t>
                      </m:r>
                      <m:r>
                        <m:rPr>
                          <m:nor/>
                        </m:rPr>
                        <a:rPr lang="en-US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m:t>of</m:t>
                      </m:r>
                      <m:r>
                        <m:rPr>
                          <m:nor/>
                        </m:rPr>
                        <a:rPr lang="en-US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m:t>component</m:t>
                      </m:r>
                      <m:r>
                        <m:rPr>
                          <m:nor/>
                        </m:rPr>
                        <a:rPr lang="en-US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m:t>k</m:t>
                      </m:r>
                      <m:r>
                        <m:rPr>
                          <m:nor/>
                        </m:rPr>
                        <a:rPr lang="en-US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m:t>for</m:t>
                      </m:r>
                      <m:r>
                        <m:rPr>
                          <m:nor/>
                        </m:rPr>
                        <a:rPr lang="en-US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m:t>datapoint</m:t>
                      </m:r>
                      <m:r>
                        <m:rPr>
                          <m:nor/>
                        </m:rPr>
                        <a:rPr lang="en-US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m:t>x</m:t>
                      </m:r>
                      <m:r>
                        <m:rPr>
                          <m:nor/>
                        </m:rPr>
                        <a:rPr lang="en-US" dirty="0"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m:t>ₙ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Jensen's Inequality:</a:t>
                </a:r>
                <a:endParaRPr lang="en-US" dirty="0"/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f(E{x}) ≥ E{f(x)} for concave f   →   enables the lower bound Q(θ)</a:t>
                </a:r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Interpretation: </a:t>
                </a: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How much is component k responsible for generating point xₙ? Used to build the expected log-likelihood Q(θ) as a lower bound for l(θ).</a:t>
                </a:r>
                <a:endParaRPr lang="en-US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A0CA1A-C7C6-9135-09F2-A0553673E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111" y="3595105"/>
                <a:ext cx="10545609" cy="3133271"/>
              </a:xfrm>
              <a:blipFill>
                <a:blip r:embed="rId2"/>
                <a:stretch>
                  <a:fillRect l="-231" r="-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FE994-F05F-1D6A-ECCD-9C14B8019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47</a:t>
            </a:fld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DE67CFF-CCAF-273F-44A8-4C5367399A40}"/>
              </a:ext>
            </a:extLst>
          </p:cNvPr>
          <p:cNvSpPr/>
          <p:nvPr/>
        </p:nvSpPr>
        <p:spPr>
          <a:xfrm>
            <a:off x="856034" y="1968323"/>
            <a:ext cx="3396823" cy="3657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E7229A4-B657-3ABE-D053-EF83BB3DBB0E}"/>
              </a:ext>
            </a:extLst>
          </p:cNvPr>
          <p:cNvSpPr/>
          <p:nvPr/>
        </p:nvSpPr>
        <p:spPr>
          <a:xfrm>
            <a:off x="856034" y="1968323"/>
            <a:ext cx="33968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2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6D46984-0DC6-12FE-9BB9-28C11616D723}"/>
              </a:ext>
            </a:extLst>
          </p:cNvPr>
          <p:cNvSpPr/>
          <p:nvPr/>
        </p:nvSpPr>
        <p:spPr>
          <a:xfrm>
            <a:off x="856034" y="2334083"/>
            <a:ext cx="3396823" cy="1094914"/>
          </a:xfrm>
          <a:prstGeom prst="rect">
            <a:avLst/>
          </a:prstGeom>
          <a:solidFill>
            <a:srgbClr val="E8F4FD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6BD41B3-D8C9-B4B6-341E-582AB4155BD2}"/>
              </a:ext>
            </a:extLst>
          </p:cNvPr>
          <p:cNvSpPr/>
          <p:nvPr/>
        </p:nvSpPr>
        <p:spPr>
          <a:xfrm>
            <a:off x="856034" y="2334083"/>
            <a:ext cx="339682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54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Datapoint xₙ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54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(visible)</a:t>
            </a:r>
            <a:endParaRPr lang="en-US" sz="20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A8513A3-7F06-83C4-1B54-41B05078171F}"/>
              </a:ext>
            </a:extLst>
          </p:cNvPr>
          <p:cNvSpPr/>
          <p:nvPr/>
        </p:nvSpPr>
        <p:spPr>
          <a:xfrm>
            <a:off x="4374530" y="1968323"/>
            <a:ext cx="3396823" cy="3657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598BC13-2401-32EB-0728-EBD09D22CEA2}"/>
              </a:ext>
            </a:extLst>
          </p:cNvPr>
          <p:cNvSpPr/>
          <p:nvPr/>
        </p:nvSpPr>
        <p:spPr>
          <a:xfrm>
            <a:off x="4374530" y="1968323"/>
            <a:ext cx="33968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</a:t>
            </a:r>
            <a:endParaRPr lang="en-US" sz="20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F0612FF-EAB3-CE26-8E32-14356D066653}"/>
              </a:ext>
            </a:extLst>
          </p:cNvPr>
          <p:cNvSpPr/>
          <p:nvPr/>
        </p:nvSpPr>
        <p:spPr>
          <a:xfrm>
            <a:off x="4374530" y="2334083"/>
            <a:ext cx="3396823" cy="1094916"/>
          </a:xfrm>
          <a:prstGeom prst="rect">
            <a:avLst/>
          </a:prstGeom>
          <a:solidFill>
            <a:srgbClr val="E8F4FD"/>
          </a:solidFill>
          <a:ln w="1905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819EC3E-E449-E87E-C600-802E6A9B60B5}"/>
              </a:ext>
            </a:extLst>
          </p:cNvPr>
          <p:cNvSpPr/>
          <p:nvPr/>
        </p:nvSpPr>
        <p:spPr>
          <a:xfrm>
            <a:off x="4374530" y="2334082"/>
            <a:ext cx="3396823" cy="1094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54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zₙ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54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(hidden, binary K-vector)</a:t>
            </a:r>
            <a:endParaRPr lang="en-US" sz="20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FE5E9A2-CC11-7239-EA59-1A3CE4FEF4E4}"/>
              </a:ext>
            </a:extLst>
          </p:cNvPr>
          <p:cNvSpPr/>
          <p:nvPr/>
        </p:nvSpPr>
        <p:spPr>
          <a:xfrm>
            <a:off x="7912481" y="1968323"/>
            <a:ext cx="3755486" cy="365760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9609EC6-1E9C-19B9-134B-633100F00C4F}"/>
              </a:ext>
            </a:extLst>
          </p:cNvPr>
          <p:cNvSpPr/>
          <p:nvPr/>
        </p:nvSpPr>
        <p:spPr>
          <a:xfrm>
            <a:off x="7912481" y="1968323"/>
            <a:ext cx="33968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20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FAE4606B-1627-427E-63E8-295027D17BB5}"/>
              </a:ext>
            </a:extLst>
          </p:cNvPr>
          <p:cNvSpPr/>
          <p:nvPr/>
        </p:nvSpPr>
        <p:spPr>
          <a:xfrm>
            <a:off x="7912481" y="2334082"/>
            <a:ext cx="3755486" cy="1094917"/>
          </a:xfrm>
          <a:prstGeom prst="rect">
            <a:avLst/>
          </a:prstGeom>
          <a:solidFill>
            <a:srgbClr val="E8F4FD"/>
          </a:solidFill>
          <a:ln w="190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3">
                <a:extLst>
                  <a:ext uri="{FF2B5EF4-FFF2-40B4-BE49-F238E27FC236}">
                    <a16:creationId xmlns:a16="http://schemas.microsoft.com/office/drawing/2014/main" id="{2D69700A-85C3-9649-FFA0-4CE6697E2F66}"/>
                  </a:ext>
                </a:extLst>
              </p:cNvPr>
              <p:cNvSpPr/>
              <p:nvPr/>
            </p:nvSpPr>
            <p:spPr>
              <a:xfrm>
                <a:off x="7912481" y="2334083"/>
                <a:ext cx="3755486" cy="109491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chemeClr val="bg1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p(x) = Σz P(z)p(</a:t>
                </a:r>
                <a:r>
                  <a:rPr lang="en-US" sz="2000" dirty="0" err="1">
                    <a:solidFill>
                      <a:schemeClr val="bg1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x|z</a:t>
                </a:r>
                <a:r>
                  <a:rPr lang="en-US" sz="2000" dirty="0">
                    <a:solidFill>
                      <a:schemeClr val="bg1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)</a:t>
                </a:r>
                <a:endParaRPr lang="en-US" sz="2000" dirty="0">
                  <a:solidFill>
                    <a:schemeClr val="bg1"/>
                  </a:solidFill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Ν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(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</m:e>
                    </m:nary>
                    <m:sSub>
                      <m:sSub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 13">
                <a:extLst>
                  <a:ext uri="{FF2B5EF4-FFF2-40B4-BE49-F238E27FC236}">
                    <a16:creationId xmlns:a16="http://schemas.microsoft.com/office/drawing/2014/main" id="{2D69700A-85C3-9649-FFA0-4CE6697E2F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481" y="2334083"/>
                <a:ext cx="3755486" cy="1094916"/>
              </a:xfrm>
              <a:prstGeom prst="rect">
                <a:avLst/>
              </a:prstGeom>
              <a:blipFill>
                <a:blip r:embed="rId3"/>
                <a:stretch>
                  <a:fillRect l="-1461" t="-2235" b="-6815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78695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2AF9D-E63E-9CC2-4E1E-CFEA87930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08EB8-F3E1-1C29-5ED7-1AC44DEBC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96383"/>
          </a:xfrm>
        </p:spPr>
        <p:txBody>
          <a:bodyPr/>
          <a:lstStyle/>
          <a:p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 Algorithm — Overview</a:t>
            </a:r>
            <a:br>
              <a:rPr lang="en-US" sz="4400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5BE032-9A63-D53B-C7B4-1D699348F0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6145" y="1549101"/>
                <a:ext cx="10424593" cy="585152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Initialize model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dirty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e>
                        </m:acc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</m:acc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𝚺</m:t>
                            </m:r>
                          </m:e>
                        </m:acc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with random values.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5BE032-9A63-D53B-C7B4-1D699348F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6145" y="1549101"/>
                <a:ext cx="10424593" cy="585152"/>
              </a:xfrm>
              <a:blipFill>
                <a:blip r:embed="rId2"/>
                <a:stretch>
                  <a:fillRect l="-234" t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ECA30-1577-0877-596C-8133CF0BB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48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EE1BC76-DDFC-37DB-374F-7875B13C12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4984" y="2134253"/>
                <a:ext cx="5132621" cy="3642603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 lnSpcReduction="1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b="1" dirty="0">
                    <a:solidFill>
                      <a:srgbClr val="FFC00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 STEP  (Expectation)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Compute responsibilities using current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
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𝑛𝑐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l-G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Ν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;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l-G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m:rPr>
                                <m:sty m:val="p"/>
                              </m:rPr>
                              <a:rPr lang="el-G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Ν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(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sSubSup>
                              <m:sSub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This makes the lower bound Q(θ) tight at θ̂ᵗ — Jensen's inequality holds with equality.</a:t>
                </a:r>
                <a:endParaRPr lang="en-US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EE1BC76-DDFC-37DB-374F-7875B13C1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84" y="2134253"/>
                <a:ext cx="5132621" cy="3642603"/>
              </a:xfrm>
              <a:prstGeom prst="rect">
                <a:avLst/>
              </a:prstGeom>
              <a:blipFill>
                <a:blip r:embed="rId3"/>
                <a:stretch>
                  <a:fillRect l="-825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D5F4871-E29A-446A-5B15-DA6C6F74CB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478" y="2134253"/>
                <a:ext cx="5132621" cy="3642603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 fontScale="925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FC00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 STEP  (Maximization)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Find new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argmax Q(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4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):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 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𝑛𝑐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itchFamily="34" charset="-120"/>
                          </a:rPr>
                          <m:t>𝐶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Calibri" pitchFamily="34" charset="-12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itchFamily="34" charset="-12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Calibri" pitchFamily="34" charset="-12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 pitchFamily="34" charset="-120"/>
                          </a:rPr>
                          <m:t>𝑁</m:t>
                        </m:r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𝛾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 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itchFamily="34" charset="-12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𝑛𝑐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2400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(effective count)</a:t>
                </a:r>
                <a:endParaRPr lang="en-US" sz="2400" dirty="0"/>
              </a:p>
              <a:p>
                <a:pPr algn="ctr"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D5F4871-E29A-446A-5B15-DA6C6F74C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478" y="2134253"/>
                <a:ext cx="5132621" cy="3642603"/>
              </a:xfrm>
              <a:prstGeom prst="rect">
                <a:avLst/>
              </a:prstGeom>
              <a:blipFill>
                <a:blip r:embed="rId4"/>
                <a:stretch>
                  <a:fillRect l="-1179" r="-472" b="-13742"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F918EDE-081E-2255-F3BA-4057716F046D}"/>
                  </a:ext>
                </a:extLst>
              </p:cNvPr>
              <p:cNvSpPr txBox="1">
                <a:spLocks/>
              </p:cNvSpPr>
              <p:nvPr/>
            </p:nvSpPr>
            <p:spPr>
              <a:xfrm rot="10800000" flipV="1">
                <a:off x="804983" y="5896805"/>
                <a:ext cx="10424593" cy="585153"/>
              </a:xfrm>
              <a:prstGeom prst="rect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txBody>
              <a:bodyPr vert="horz" lIns="91440" tIns="91440" rIns="91440" bIns="9144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FFC00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Repeat</a:t>
                </a:r>
                <a:r>
                  <a:rPr lang="en-US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until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𝑙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F918EDE-081E-2255-F3BA-4057716F0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804983" y="5896805"/>
                <a:ext cx="10424593" cy="5851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28887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6FC93-D169-62F7-172D-9AAC1DB52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E21B-4CEE-8785-8349-71BAF3F29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74525"/>
          </a:xfrm>
        </p:spPr>
        <p:txBody>
          <a:bodyPr/>
          <a:lstStyle/>
          <a:p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M-Step Updates for GMMs</a:t>
            </a:r>
            <a:br>
              <a:rPr lang="en-US" sz="4400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FF8FB-33E0-BC62-648E-AE54E015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49</a:t>
            </a:fld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22D97C1-E237-88A2-7E48-47C101C0373B}"/>
              </a:ext>
            </a:extLst>
          </p:cNvPr>
          <p:cNvSpPr/>
          <p:nvPr/>
        </p:nvSpPr>
        <p:spPr>
          <a:xfrm>
            <a:off x="767187" y="1847282"/>
            <a:ext cx="914400" cy="1398837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1C88BDA-3897-A202-5B7F-2FEAE8B20382}"/>
              </a:ext>
            </a:extLst>
          </p:cNvPr>
          <p:cNvSpPr/>
          <p:nvPr/>
        </p:nvSpPr>
        <p:spPr>
          <a:xfrm>
            <a:off x="767188" y="1847283"/>
            <a:ext cx="914398" cy="1398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EC15DC5-32A9-8358-F254-58224C426F21}"/>
              </a:ext>
            </a:extLst>
          </p:cNvPr>
          <p:cNvSpPr/>
          <p:nvPr/>
        </p:nvSpPr>
        <p:spPr>
          <a:xfrm>
            <a:off x="1681587" y="1847282"/>
            <a:ext cx="9612225" cy="1398837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468AF2B-27BC-475F-160E-72386FCCF48D}"/>
              </a:ext>
            </a:extLst>
          </p:cNvPr>
          <p:cNvSpPr/>
          <p:nvPr/>
        </p:nvSpPr>
        <p:spPr>
          <a:xfrm>
            <a:off x="1818747" y="1893003"/>
            <a:ext cx="92689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Mean  μ̂c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6">
                <a:extLst>
                  <a:ext uri="{FF2B5EF4-FFF2-40B4-BE49-F238E27FC236}">
                    <a16:creationId xmlns:a16="http://schemas.microsoft.com/office/drawing/2014/main" id="{D3DCE0FA-9459-E323-00AF-F28768ED22DE}"/>
                  </a:ext>
                </a:extLst>
              </p:cNvPr>
              <p:cNvSpPr/>
              <p:nvPr/>
            </p:nvSpPr>
            <p:spPr>
              <a:xfrm>
                <a:off x="3905026" y="1939157"/>
                <a:ext cx="7182652" cy="5482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 </m:t>
                    </m:r>
                    <m:f>
                      <m:f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𝑛𝑐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 6">
                <a:extLst>
                  <a:ext uri="{FF2B5EF4-FFF2-40B4-BE49-F238E27FC236}">
                    <a16:creationId xmlns:a16="http://schemas.microsoft.com/office/drawing/2014/main" id="{D3DCE0FA-9459-E323-00AF-F28768ED22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026" y="1939157"/>
                <a:ext cx="7182652" cy="548206"/>
              </a:xfrm>
              <a:prstGeom prst="rect">
                <a:avLst/>
              </a:prstGeom>
              <a:blipFill>
                <a:blip r:embed="rId2"/>
                <a:stretch>
                  <a:fillRect t="-80000" b="-116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7">
            <a:extLst>
              <a:ext uri="{FF2B5EF4-FFF2-40B4-BE49-F238E27FC236}">
                <a16:creationId xmlns:a16="http://schemas.microsoft.com/office/drawing/2014/main" id="{D92E7DC3-7AC6-9F8A-0AD2-AA22A41C86BA}"/>
              </a:ext>
            </a:extLst>
          </p:cNvPr>
          <p:cNvSpPr/>
          <p:nvPr/>
        </p:nvSpPr>
        <p:spPr>
          <a:xfrm>
            <a:off x="1818747" y="2487362"/>
            <a:ext cx="9268931" cy="71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of all datapoints, weighted by each component's responsibility. Reduces to standard MLE mean when responsibilities are hard (0 or 1).</a:t>
            </a:r>
            <a:endParaRPr lang="en-US" sz="20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1E26938-6671-5217-4A10-02DA8C5D288A}"/>
              </a:ext>
            </a:extLst>
          </p:cNvPr>
          <p:cNvSpPr/>
          <p:nvPr/>
        </p:nvSpPr>
        <p:spPr>
          <a:xfrm>
            <a:off x="767188" y="3353693"/>
            <a:ext cx="914399" cy="1671263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0075FC3-6F8D-267E-40F0-AB94BBD15B11}"/>
              </a:ext>
            </a:extLst>
          </p:cNvPr>
          <p:cNvSpPr/>
          <p:nvPr/>
        </p:nvSpPr>
        <p:spPr>
          <a:xfrm>
            <a:off x="767187" y="3353694"/>
            <a:ext cx="914399" cy="1671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1550494-E6AA-9C97-7A6D-F7325D7DC4D5}"/>
              </a:ext>
            </a:extLst>
          </p:cNvPr>
          <p:cNvSpPr/>
          <p:nvPr/>
        </p:nvSpPr>
        <p:spPr>
          <a:xfrm>
            <a:off x="1681587" y="3353693"/>
            <a:ext cx="9612225" cy="1671263"/>
          </a:xfrm>
          <a:prstGeom prst="rect">
            <a:avLst/>
          </a:prstGeom>
          <a:solidFill>
            <a:srgbClr val="E8F4FD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B8B85C3-10E1-255C-4975-6BB44C84623C}"/>
              </a:ext>
            </a:extLst>
          </p:cNvPr>
          <p:cNvSpPr/>
          <p:nvPr/>
        </p:nvSpPr>
        <p:spPr>
          <a:xfrm>
            <a:off x="1818747" y="3399414"/>
            <a:ext cx="92689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Covariance  Σ̂c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2">
                <a:extLst>
                  <a:ext uri="{FF2B5EF4-FFF2-40B4-BE49-F238E27FC236}">
                    <a16:creationId xmlns:a16="http://schemas.microsoft.com/office/drawing/2014/main" id="{AF7C9EEE-1420-09BD-DABC-6E436B6895CD}"/>
                  </a:ext>
                </a:extLst>
              </p:cNvPr>
              <p:cNvSpPr/>
              <p:nvPr/>
            </p:nvSpPr>
            <p:spPr>
              <a:xfrm>
                <a:off x="4701092" y="3719018"/>
                <a:ext cx="6386586" cy="2747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den>
                      </m:f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 12">
                <a:extLst>
                  <a:ext uri="{FF2B5EF4-FFF2-40B4-BE49-F238E27FC236}">
                    <a16:creationId xmlns:a16="http://schemas.microsoft.com/office/drawing/2014/main" id="{AF7C9EEE-1420-09BD-DABC-6E436B6895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1092" y="3719018"/>
                <a:ext cx="6386586" cy="274756"/>
              </a:xfrm>
              <a:prstGeom prst="rect">
                <a:avLst/>
              </a:prstGeom>
              <a:blipFill>
                <a:blip r:embed="rId3"/>
                <a:stretch>
                  <a:fillRect t="-95556" b="-10444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13">
            <a:extLst>
              <a:ext uri="{FF2B5EF4-FFF2-40B4-BE49-F238E27FC236}">
                <a16:creationId xmlns:a16="http://schemas.microsoft.com/office/drawing/2014/main" id="{62BBC07C-FAC3-0C26-947A-3F0295295D51}"/>
              </a:ext>
            </a:extLst>
          </p:cNvPr>
          <p:cNvSpPr/>
          <p:nvPr/>
        </p:nvSpPr>
        <p:spPr>
          <a:xfrm>
            <a:off x="1818747" y="4221939"/>
            <a:ext cx="9268931" cy="68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sample covariance, analogous to standard MLE but weighted by responsibilities. Nc = Σₙ γ(zₙc) is the effective data count.</a:t>
            </a:r>
            <a:endParaRPr lang="en-US" sz="20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F4E5A96-0E79-1824-895E-840D42316C68}"/>
              </a:ext>
            </a:extLst>
          </p:cNvPr>
          <p:cNvSpPr/>
          <p:nvPr/>
        </p:nvSpPr>
        <p:spPr>
          <a:xfrm>
            <a:off x="767187" y="5145984"/>
            <a:ext cx="914399" cy="1398836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CADAD4A-22CF-114E-9DF8-F9DA14A24C28}"/>
              </a:ext>
            </a:extLst>
          </p:cNvPr>
          <p:cNvSpPr/>
          <p:nvPr/>
        </p:nvSpPr>
        <p:spPr>
          <a:xfrm>
            <a:off x="767187" y="5145983"/>
            <a:ext cx="914399" cy="139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AC9FB17-E2AD-1800-4C75-CB5A97642857}"/>
              </a:ext>
            </a:extLst>
          </p:cNvPr>
          <p:cNvSpPr/>
          <p:nvPr/>
        </p:nvSpPr>
        <p:spPr>
          <a:xfrm>
            <a:off x="1681587" y="5145984"/>
            <a:ext cx="9612225" cy="1398836"/>
          </a:xfrm>
          <a:prstGeom prst="rect">
            <a:avLst/>
          </a:prstGeom>
          <a:solidFill>
            <a:srgbClr val="E8F4FD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1E25E22-3C87-8CF5-FCE2-27AB59C93F82}"/>
              </a:ext>
            </a:extLst>
          </p:cNvPr>
          <p:cNvSpPr/>
          <p:nvPr/>
        </p:nvSpPr>
        <p:spPr>
          <a:xfrm>
            <a:off x="1818747" y="5191704"/>
            <a:ext cx="92689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Mixing Coeff.  π̂c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8">
                <a:extLst>
                  <a:ext uri="{FF2B5EF4-FFF2-40B4-BE49-F238E27FC236}">
                    <a16:creationId xmlns:a16="http://schemas.microsoft.com/office/drawing/2014/main" id="{A48ACF0E-FF6F-3873-11EA-FC8C217F0CFA}"/>
                  </a:ext>
                </a:extLst>
              </p:cNvPr>
              <p:cNvSpPr/>
              <p:nvPr/>
            </p:nvSpPr>
            <p:spPr>
              <a:xfrm>
                <a:off x="1818747" y="5466024"/>
                <a:ext cx="9268931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num>
                        <m:den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 18">
                <a:extLst>
                  <a:ext uri="{FF2B5EF4-FFF2-40B4-BE49-F238E27FC236}">
                    <a16:creationId xmlns:a16="http://schemas.microsoft.com/office/drawing/2014/main" id="{A48ACF0E-FF6F-3873-11EA-FC8C217F0C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747" y="5466024"/>
                <a:ext cx="9268931" cy="320040"/>
              </a:xfrm>
              <a:prstGeom prst="rect">
                <a:avLst/>
              </a:prstGeom>
              <a:blipFill>
                <a:blip r:embed="rId4"/>
                <a:stretch>
                  <a:fillRect t="-34615" b="-4807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19">
            <a:extLst>
              <a:ext uri="{FF2B5EF4-FFF2-40B4-BE49-F238E27FC236}">
                <a16:creationId xmlns:a16="http://schemas.microsoft.com/office/drawing/2014/main" id="{0EEAC566-CD50-80A9-008C-3E44A9CA15B2}"/>
              </a:ext>
            </a:extLst>
          </p:cNvPr>
          <p:cNvSpPr/>
          <p:nvPr/>
        </p:nvSpPr>
        <p:spPr>
          <a:xfrm>
            <a:off x="1818747" y="5786064"/>
            <a:ext cx="9268931" cy="75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the average responsibility taken by component c across all N datapoints — fraction of data "owned" by this component.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039674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9B6C7-6F58-7523-582B-8EE259ACC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6A09B-6658-B497-83A2-1D5663F1B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Algorithm — Complete Procedure</a:t>
            </a:r>
            <a:br>
              <a:rPr lang="en-US" sz="4400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A811F-FAD7-53AD-7155-CFF9B095B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50</a:t>
            </a:fld>
            <a:endParaRPr lang="en-US" dirty="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C7DE782C-A1D4-F009-A0EF-96C825D93922}"/>
              </a:ext>
            </a:extLst>
          </p:cNvPr>
          <p:cNvSpPr/>
          <p:nvPr/>
        </p:nvSpPr>
        <p:spPr>
          <a:xfrm>
            <a:off x="817917" y="1928480"/>
            <a:ext cx="502920" cy="640080"/>
          </a:xfrm>
          <a:prstGeom prst="rect">
            <a:avLst/>
          </a:prstGeom>
          <a:solidFill>
            <a:srgbClr val="5D6D7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DB8E9869-556C-CD7E-ED6C-EA82FCC71915}"/>
              </a:ext>
            </a:extLst>
          </p:cNvPr>
          <p:cNvSpPr/>
          <p:nvPr/>
        </p:nvSpPr>
        <p:spPr>
          <a:xfrm>
            <a:off x="817917" y="19284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2DFE5182-6E75-36C0-17D4-8AD82DD20F19}"/>
              </a:ext>
            </a:extLst>
          </p:cNvPr>
          <p:cNvSpPr/>
          <p:nvPr/>
        </p:nvSpPr>
        <p:spPr>
          <a:xfrm>
            <a:off x="1320837" y="1928480"/>
            <a:ext cx="9863294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1EC31911-4619-7941-DBAD-960293A20109}"/>
              </a:ext>
            </a:extLst>
          </p:cNvPr>
          <p:cNvSpPr/>
          <p:nvPr/>
        </p:nvSpPr>
        <p:spPr>
          <a:xfrm>
            <a:off x="1457997" y="1928480"/>
            <a:ext cx="142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Initialize:</a:t>
            </a:r>
            <a:endParaRPr lang="en-US" sz="20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021A63ED-5213-B3BD-6F2A-FD7491C92C9C}"/>
              </a:ext>
            </a:extLst>
          </p:cNvPr>
          <p:cNvSpPr/>
          <p:nvPr/>
        </p:nvSpPr>
        <p:spPr>
          <a:xfrm>
            <a:off x="2646716" y="1928480"/>
            <a:ext cx="8000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θ̂⁰ = (π̂⁰, μ̂⁰, Σ̂⁰) randomly</a:t>
            </a:r>
            <a:endParaRPr lang="en-US" sz="2000" dirty="0"/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4316A116-CD6F-C838-90E2-5677F610927A}"/>
              </a:ext>
            </a:extLst>
          </p:cNvPr>
          <p:cNvSpPr/>
          <p:nvPr/>
        </p:nvSpPr>
        <p:spPr>
          <a:xfrm>
            <a:off x="817917" y="2733152"/>
            <a:ext cx="502920" cy="64008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5AC6FF80-ACF7-1FB2-6FC7-B63D9417E62A}"/>
              </a:ext>
            </a:extLst>
          </p:cNvPr>
          <p:cNvSpPr/>
          <p:nvPr/>
        </p:nvSpPr>
        <p:spPr>
          <a:xfrm>
            <a:off x="817917" y="273315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B599DFB5-2251-659A-3EB8-DA631705DF5B}"/>
              </a:ext>
            </a:extLst>
          </p:cNvPr>
          <p:cNvSpPr/>
          <p:nvPr/>
        </p:nvSpPr>
        <p:spPr>
          <a:xfrm>
            <a:off x="1320837" y="2733152"/>
            <a:ext cx="9863294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8B4CCDCE-2E9B-FF1E-C1E8-454D28278261}"/>
              </a:ext>
            </a:extLst>
          </p:cNvPr>
          <p:cNvSpPr/>
          <p:nvPr/>
        </p:nvSpPr>
        <p:spPr>
          <a:xfrm>
            <a:off x="1457997" y="2733152"/>
            <a:ext cx="142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Step:</a:t>
            </a:r>
            <a:endParaRPr lang="en-US" sz="20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6378FC19-E0D0-5FE8-8BDA-6D1AA4BB2C78}"/>
              </a:ext>
            </a:extLst>
          </p:cNvPr>
          <p:cNvSpPr/>
          <p:nvPr/>
        </p:nvSpPr>
        <p:spPr>
          <a:xfrm>
            <a:off x="2646716" y="2733152"/>
            <a:ext cx="8000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responsibilities γᵗ(zₙc) for all n, c</a:t>
            </a:r>
            <a:endParaRPr lang="en-US" sz="20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EB26EB2D-5835-3139-44C8-D6ADE7026EDA}"/>
              </a:ext>
            </a:extLst>
          </p:cNvPr>
          <p:cNvSpPr/>
          <p:nvPr/>
        </p:nvSpPr>
        <p:spPr>
          <a:xfrm>
            <a:off x="817917" y="3537824"/>
            <a:ext cx="502920" cy="64008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B45CA1D5-063D-DDBE-CCCA-E3F6EE7F84E7}"/>
              </a:ext>
            </a:extLst>
          </p:cNvPr>
          <p:cNvSpPr/>
          <p:nvPr/>
        </p:nvSpPr>
        <p:spPr>
          <a:xfrm>
            <a:off x="817917" y="353782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FCB33CC3-6BF6-FB7A-DB70-F9866221D82D}"/>
              </a:ext>
            </a:extLst>
          </p:cNvPr>
          <p:cNvSpPr/>
          <p:nvPr/>
        </p:nvSpPr>
        <p:spPr>
          <a:xfrm>
            <a:off x="1320837" y="3537824"/>
            <a:ext cx="9863294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EEBDBC11-96D8-1FCA-79C4-49F8327C8D1F}"/>
              </a:ext>
            </a:extLst>
          </p:cNvPr>
          <p:cNvSpPr/>
          <p:nvPr/>
        </p:nvSpPr>
        <p:spPr>
          <a:xfrm>
            <a:off x="1457997" y="3537824"/>
            <a:ext cx="142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Step:</a:t>
            </a:r>
            <a:endParaRPr lang="en-US" sz="200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7014A092-3F66-C112-FA7A-B54A5F643E3B}"/>
              </a:ext>
            </a:extLst>
          </p:cNvPr>
          <p:cNvSpPr/>
          <p:nvPr/>
        </p:nvSpPr>
        <p:spPr>
          <a:xfrm>
            <a:off x="2646716" y="3537824"/>
            <a:ext cx="8000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μ̂, Σ̂, π̂ using closed-form solutions (Eqs. 4.105)</a:t>
            </a:r>
            <a:endParaRPr lang="en-US" sz="2000" dirty="0"/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F1F4FF76-35AD-75F7-3216-0BBE7C9720AF}"/>
              </a:ext>
            </a:extLst>
          </p:cNvPr>
          <p:cNvSpPr/>
          <p:nvPr/>
        </p:nvSpPr>
        <p:spPr>
          <a:xfrm>
            <a:off x="817917" y="4342496"/>
            <a:ext cx="502920" cy="64008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D619E3A7-5E79-1454-E42C-0E70B561C2F9}"/>
              </a:ext>
            </a:extLst>
          </p:cNvPr>
          <p:cNvSpPr/>
          <p:nvPr/>
        </p:nvSpPr>
        <p:spPr>
          <a:xfrm>
            <a:off x="817917" y="434249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9638D665-E604-1934-8ADF-8DE937A0D499}"/>
              </a:ext>
            </a:extLst>
          </p:cNvPr>
          <p:cNvSpPr/>
          <p:nvPr/>
        </p:nvSpPr>
        <p:spPr>
          <a:xfrm>
            <a:off x="1320837" y="4342496"/>
            <a:ext cx="9863294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755F0468-1E7F-C574-7B62-DB5F0D4987B7}"/>
              </a:ext>
            </a:extLst>
          </p:cNvPr>
          <p:cNvSpPr/>
          <p:nvPr/>
        </p:nvSpPr>
        <p:spPr>
          <a:xfrm>
            <a:off x="1457997" y="4342496"/>
            <a:ext cx="142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Evaluate:</a:t>
            </a:r>
            <a:endParaRPr lang="en-US" sz="2000" dirty="0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471EF323-4A86-2DA8-0646-EE32C365B095}"/>
              </a:ext>
            </a:extLst>
          </p:cNvPr>
          <p:cNvSpPr/>
          <p:nvPr/>
        </p:nvSpPr>
        <p:spPr>
          <a:xfrm>
            <a:off x="2646716" y="4342496"/>
            <a:ext cx="8000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log-likelihood l(θ̂ᵗ⁺¹); check convergence l(θ̂ᵗ⁺¹) − l(θ̂ᵗ) &lt; ε</a:t>
            </a:r>
            <a:endParaRPr lang="en-US" sz="2000" dirty="0"/>
          </a:p>
        </p:txBody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A3E2307F-5251-8E5F-21F7-ADE1FB88E8AD}"/>
              </a:ext>
            </a:extLst>
          </p:cNvPr>
          <p:cNvSpPr/>
          <p:nvPr/>
        </p:nvSpPr>
        <p:spPr>
          <a:xfrm>
            <a:off x="817917" y="5147168"/>
            <a:ext cx="502920" cy="6400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73ED39FA-4789-9B3C-FDA6-49066306E1F2}"/>
              </a:ext>
            </a:extLst>
          </p:cNvPr>
          <p:cNvSpPr/>
          <p:nvPr/>
        </p:nvSpPr>
        <p:spPr>
          <a:xfrm>
            <a:off x="817917" y="51471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D0DA1C65-3896-7430-2F8F-FE42E2338C6E}"/>
              </a:ext>
            </a:extLst>
          </p:cNvPr>
          <p:cNvSpPr/>
          <p:nvPr/>
        </p:nvSpPr>
        <p:spPr>
          <a:xfrm>
            <a:off x="1320837" y="5147168"/>
            <a:ext cx="9863294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C54632A9-7A9E-863B-F1A5-5E09AC87DE85}"/>
              </a:ext>
            </a:extLst>
          </p:cNvPr>
          <p:cNvSpPr/>
          <p:nvPr/>
        </p:nvSpPr>
        <p:spPr>
          <a:xfrm>
            <a:off x="1457997" y="5147168"/>
            <a:ext cx="142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Repeat:</a:t>
            </a:r>
            <a:endParaRPr lang="en-US" sz="2000" dirty="0"/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4A6440B2-B9F7-45F5-0B76-A63A25B1729D}"/>
              </a:ext>
            </a:extLst>
          </p:cNvPr>
          <p:cNvSpPr/>
          <p:nvPr/>
        </p:nvSpPr>
        <p:spPr>
          <a:xfrm>
            <a:off x="2646716" y="5147168"/>
            <a:ext cx="8000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converged, set t = t+1 and return to Step 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78502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DF82E-EB5F-65E0-08EE-10275A3D7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GMM Visual 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F1717C6-D180-D592-1622-5378B63FD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8232" y="1988093"/>
            <a:ext cx="8255535" cy="463959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A429B-879D-869E-FC4F-A1FA658E8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7083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82161-EE41-A7E4-8974-AA1965A11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C5AAB-0616-183E-0818-9963EE5C3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GMM Visual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E0944-E42A-2215-3763-8728DA88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52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1A025F3-DDC7-2051-E321-5816511B0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7586" y="1516286"/>
            <a:ext cx="8326419" cy="50459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87D8A2-03B6-9F51-31BF-2A7D292B1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25" y="1338668"/>
            <a:ext cx="9311657" cy="540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5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208FE-6477-F679-4A38-F139FE4AD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40DE-01A4-4E1E-5EB0-3558F14EE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22872"/>
          </a:xfrm>
        </p:spPr>
        <p:txBody>
          <a:bodyPr/>
          <a:lstStyle/>
          <a:p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Considerations &amp; Limitations</a:t>
            </a:r>
            <a:br>
              <a:rPr lang="en-US" sz="4400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30208-D97A-DB25-CD16-9CF238504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53</a:t>
            </a:fld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61BB263-BDE1-9C0D-1A32-50A9B0B526C5}"/>
              </a:ext>
            </a:extLst>
          </p:cNvPr>
          <p:cNvSpPr/>
          <p:nvPr/>
        </p:nvSpPr>
        <p:spPr>
          <a:xfrm>
            <a:off x="646111" y="1783445"/>
            <a:ext cx="5186610" cy="2295451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9CB4F9A-EA61-AFC7-53A5-A59B08DCB9D4}"/>
              </a:ext>
            </a:extLst>
          </p:cNvPr>
          <p:cNvSpPr/>
          <p:nvPr/>
        </p:nvSpPr>
        <p:spPr>
          <a:xfrm>
            <a:off x="646111" y="1783445"/>
            <a:ext cx="502920" cy="2295451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A9DE01B-4AD4-973A-6D45-025DC6538E5C}"/>
              </a:ext>
            </a:extLst>
          </p:cNvPr>
          <p:cNvSpPr/>
          <p:nvPr/>
        </p:nvSpPr>
        <p:spPr>
          <a:xfrm>
            <a:off x="646111" y="1783446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⚠</a:t>
            </a:r>
            <a:endParaRPr lang="en-US" sz="2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3F17E9D-478C-0D52-98A9-F38DA457D8E2}"/>
              </a:ext>
            </a:extLst>
          </p:cNvPr>
          <p:cNvSpPr/>
          <p:nvPr/>
        </p:nvSpPr>
        <p:spPr>
          <a:xfrm>
            <a:off x="1240471" y="1874886"/>
            <a:ext cx="45922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Optima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7B344A3-1494-0BA8-B9C5-EC13EF4B224C}"/>
              </a:ext>
            </a:extLst>
          </p:cNvPr>
          <p:cNvSpPr/>
          <p:nvPr/>
        </p:nvSpPr>
        <p:spPr>
          <a:xfrm>
            <a:off x="1240470" y="2194925"/>
            <a:ext cx="4592247" cy="1087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is not guaranteed to find the global optimum. The log-likelihood function may not be strictly concave.</a:t>
            </a:r>
            <a:endParaRPr lang="en-US" sz="20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228AD92-CF19-8B4D-C3E8-3539F41DD2B4}"/>
              </a:ext>
            </a:extLst>
          </p:cNvPr>
          <p:cNvSpPr/>
          <p:nvPr/>
        </p:nvSpPr>
        <p:spPr>
          <a:xfrm>
            <a:off x="1240471" y="3328198"/>
            <a:ext cx="329184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8E67B23-0B3F-004A-8A90-ACCF34462A09}"/>
              </a:ext>
            </a:extLst>
          </p:cNvPr>
          <p:cNvSpPr/>
          <p:nvPr/>
        </p:nvSpPr>
        <p:spPr>
          <a:xfrm>
            <a:off x="1240471" y="3373918"/>
            <a:ext cx="4592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Run EM multiple times with different random initializations.</a:t>
            </a:r>
            <a:endParaRPr lang="en-US" sz="20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62F8820-058F-6B66-036B-604CD95AEE00}"/>
              </a:ext>
            </a:extLst>
          </p:cNvPr>
          <p:cNvSpPr/>
          <p:nvPr/>
        </p:nvSpPr>
        <p:spPr>
          <a:xfrm>
            <a:off x="6004127" y="1783445"/>
            <a:ext cx="5186611" cy="2295451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7101543-CE4B-1EDA-4DAA-C68EE5E79B0C}"/>
              </a:ext>
            </a:extLst>
          </p:cNvPr>
          <p:cNvSpPr/>
          <p:nvPr/>
        </p:nvSpPr>
        <p:spPr>
          <a:xfrm>
            <a:off x="6004128" y="1783445"/>
            <a:ext cx="502920" cy="2295451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57D791B-17CF-3560-4F96-4BD0DD02455C}"/>
              </a:ext>
            </a:extLst>
          </p:cNvPr>
          <p:cNvSpPr/>
          <p:nvPr/>
        </p:nvSpPr>
        <p:spPr>
          <a:xfrm>
            <a:off x="6004128" y="1783446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⚙</a:t>
            </a:r>
            <a:endParaRPr lang="en-US" sz="2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28F46F6-6D0E-8C3C-2E46-313ABB437FD6}"/>
              </a:ext>
            </a:extLst>
          </p:cNvPr>
          <p:cNvSpPr/>
          <p:nvPr/>
        </p:nvSpPr>
        <p:spPr>
          <a:xfrm>
            <a:off x="6598488" y="1874886"/>
            <a:ext cx="4510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endParaRPr lang="en-US" sz="20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9B8928B-2735-3A2F-A88B-7DCE1C34B095}"/>
              </a:ext>
            </a:extLst>
          </p:cNvPr>
          <p:cNvSpPr/>
          <p:nvPr/>
        </p:nvSpPr>
        <p:spPr>
          <a:xfrm>
            <a:off x="6598488" y="2194925"/>
            <a:ext cx="4592250" cy="116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speed and quality depend heavily on the starting parameters θ̂⁰.</a:t>
            </a:r>
            <a:endParaRPr lang="en-US" sz="20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947A787B-0597-6F39-485C-7B0E5B0AA2BB}"/>
              </a:ext>
            </a:extLst>
          </p:cNvPr>
          <p:cNvSpPr/>
          <p:nvPr/>
        </p:nvSpPr>
        <p:spPr>
          <a:xfrm>
            <a:off x="6598488" y="3376837"/>
            <a:ext cx="329184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58BB955-7045-F841-F006-6EEC22D481A9}"/>
              </a:ext>
            </a:extLst>
          </p:cNvPr>
          <p:cNvSpPr/>
          <p:nvPr/>
        </p:nvSpPr>
        <p:spPr>
          <a:xfrm>
            <a:off x="6598488" y="3422557"/>
            <a:ext cx="45922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k-means clustering to initialize μ, or try multiple random starts.</a:t>
            </a:r>
            <a:endParaRPr lang="en-US" sz="20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9E4CD17F-CC40-C407-5292-C20E5FE07142}"/>
              </a:ext>
            </a:extLst>
          </p:cNvPr>
          <p:cNvSpPr/>
          <p:nvPr/>
        </p:nvSpPr>
        <p:spPr>
          <a:xfrm>
            <a:off x="646111" y="4170336"/>
            <a:ext cx="5186610" cy="2234941"/>
          </a:xfrm>
          <a:prstGeom prst="rect">
            <a:avLst/>
          </a:prstGeom>
          <a:solidFill>
            <a:srgbClr val="FFFFFF"/>
          </a:solidFill>
          <a:ln w="19050">
            <a:solidFill>
              <a:srgbClr val="F18F0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3FDFBE07-CF67-A559-0A9E-65738CF7B753}"/>
              </a:ext>
            </a:extLst>
          </p:cNvPr>
          <p:cNvSpPr/>
          <p:nvPr/>
        </p:nvSpPr>
        <p:spPr>
          <a:xfrm>
            <a:off x="646111" y="4170336"/>
            <a:ext cx="502920" cy="2234937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AA57153-0404-5A43-EF2A-C5430E2A4247}"/>
              </a:ext>
            </a:extLst>
          </p:cNvPr>
          <p:cNvSpPr/>
          <p:nvPr/>
        </p:nvSpPr>
        <p:spPr>
          <a:xfrm>
            <a:off x="646111" y="4170337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❓</a:t>
            </a:r>
            <a:endParaRPr lang="en-US" sz="20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A122140-D662-B21C-6F9C-62F86BD6F0D0}"/>
              </a:ext>
            </a:extLst>
          </p:cNvPr>
          <p:cNvSpPr/>
          <p:nvPr/>
        </p:nvSpPr>
        <p:spPr>
          <a:xfrm>
            <a:off x="1240471" y="4261777"/>
            <a:ext cx="45922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Components K</a:t>
            </a:r>
            <a:endParaRPr lang="en-US" sz="20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176FC85-1099-E5AF-3ECD-CB5E7AD4AE89}"/>
              </a:ext>
            </a:extLst>
          </p:cNvPr>
          <p:cNvSpPr/>
          <p:nvPr/>
        </p:nvSpPr>
        <p:spPr>
          <a:xfrm>
            <a:off x="1240471" y="4581817"/>
            <a:ext cx="4592250" cy="976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optimal K is an open problem — no universal rule.</a:t>
            </a:r>
            <a:endParaRPr lang="en-US" sz="200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636667B9-75CC-DF9B-54DF-E33DFC6BF18D}"/>
              </a:ext>
            </a:extLst>
          </p:cNvPr>
          <p:cNvSpPr/>
          <p:nvPr/>
        </p:nvSpPr>
        <p:spPr>
          <a:xfrm>
            <a:off x="1240471" y="5610517"/>
            <a:ext cx="329184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BEAEFAD3-67D5-8996-81F7-2EEC79B1BA3F}"/>
              </a:ext>
            </a:extLst>
          </p:cNvPr>
          <p:cNvSpPr/>
          <p:nvPr/>
        </p:nvSpPr>
        <p:spPr>
          <a:xfrm>
            <a:off x="1240468" y="5669369"/>
            <a:ext cx="4592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heuristics such as the Bayesian Information Criterion (BIC).</a:t>
            </a:r>
            <a:endParaRPr lang="en-US" sz="20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7E0CD984-A527-7901-F9F8-C26F42924854}"/>
              </a:ext>
            </a:extLst>
          </p:cNvPr>
          <p:cNvSpPr/>
          <p:nvPr/>
        </p:nvSpPr>
        <p:spPr>
          <a:xfrm>
            <a:off x="6004128" y="4170336"/>
            <a:ext cx="5186610" cy="2234941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534C8066-F7EF-E5B4-64B0-706A34DE9CDC}"/>
              </a:ext>
            </a:extLst>
          </p:cNvPr>
          <p:cNvSpPr/>
          <p:nvPr/>
        </p:nvSpPr>
        <p:spPr>
          <a:xfrm>
            <a:off x="6004128" y="4170336"/>
            <a:ext cx="502920" cy="2234937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7594FCA9-8667-14EE-214F-192DE20E386D}"/>
              </a:ext>
            </a:extLst>
          </p:cNvPr>
          <p:cNvSpPr/>
          <p:nvPr/>
        </p:nvSpPr>
        <p:spPr>
          <a:xfrm>
            <a:off x="6004128" y="4170337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58120270-18C8-257A-6C44-F8BD9729BF85}"/>
              </a:ext>
            </a:extLst>
          </p:cNvPr>
          <p:cNvSpPr/>
          <p:nvPr/>
        </p:nvSpPr>
        <p:spPr>
          <a:xfrm>
            <a:off x="6598488" y="4261777"/>
            <a:ext cx="4510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Guarantees</a:t>
            </a:r>
            <a:endParaRPr lang="en-US" sz="200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BD26AEBD-EA84-085F-D974-9727BD6194AE}"/>
              </a:ext>
            </a:extLst>
          </p:cNvPr>
          <p:cNvSpPr/>
          <p:nvPr/>
        </p:nvSpPr>
        <p:spPr>
          <a:xfrm>
            <a:off x="6598487" y="4581817"/>
            <a:ext cx="4510499" cy="976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is guaranteed to monotonically increase the likelihood at each iteration.</a:t>
            </a:r>
            <a:endParaRPr lang="en-US" sz="200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3C9A27D0-378A-0F07-F80B-E49AE3EE4D44}"/>
              </a:ext>
            </a:extLst>
          </p:cNvPr>
          <p:cNvSpPr/>
          <p:nvPr/>
        </p:nvSpPr>
        <p:spPr>
          <a:xfrm>
            <a:off x="6598488" y="5610517"/>
            <a:ext cx="329184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6C2280D4-1F07-610E-4215-399AA6B32A99}"/>
              </a:ext>
            </a:extLst>
          </p:cNvPr>
          <p:cNvSpPr/>
          <p:nvPr/>
        </p:nvSpPr>
        <p:spPr>
          <a:xfrm>
            <a:off x="6598488" y="5701957"/>
            <a:ext cx="4510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Provides numerical stability and probabilistic soundness.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166525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7F2E2-B4D5-4357-67AC-7FF9F147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21B11-7DFC-D8D2-B312-DC8AFD74B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Summary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753FD-8D4F-6B92-04D7-E16552CA6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853248"/>
            <a:ext cx="10545609" cy="455203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GMMs are powerful universal approximators but require iterative estimation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alternates between E step (responsibilities) and M step (parameter update)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updates exist for μ, Σ, and π in the Gaussian case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is guaranteed; global optimum is not — use multiple restarts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is a general framework — also used in hidden Markov models (Baum-Welch)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552B8-9655-A02B-629D-6B89459EB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9282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92A5-F3BB-CF8F-72C9-DB1506D1E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GMM Estimation Example</a:t>
            </a:r>
            <a:br>
              <a:rPr lang="en-US" dirty="0"/>
            </a:br>
            <a:r>
              <a:rPr lang="en-US" sz="3000" b="1" dirty="0">
                <a:solidFill>
                  <a:srgbClr val="FFC000"/>
                </a:solidFill>
              </a:rPr>
              <a:t>Initial Parameter Assumptions</a:t>
            </a:r>
            <a:endParaRPr lang="en-US" sz="3000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6434C-DA5E-9535-587B-E89AEEDC5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935804"/>
            <a:ext cx="10545609" cy="454281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The Setup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Assume we have a 1D dataset containing </a:t>
            </a:r>
            <a:r>
              <a:rPr lang="en-US" b="1" dirty="0"/>
              <a:t>N = 3</a:t>
            </a:r>
            <a:r>
              <a:rPr lang="en-US" dirty="0"/>
              <a:t> datapoints: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D = { x₁ = 2,   x₂ = 3,   x₃ = 8 }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Notice that </a:t>
            </a:r>
            <a:r>
              <a:rPr lang="en-US" i="1" dirty="0"/>
              <a:t>m₁</a:t>
            </a:r>
            <a:r>
              <a:rPr lang="en-US" dirty="0"/>
              <a:t> and </a:t>
            </a:r>
            <a:r>
              <a:rPr lang="en-US" i="1" dirty="0"/>
              <a:t>m₂</a:t>
            </a:r>
            <a:r>
              <a:rPr lang="en-US" dirty="0"/>
              <a:t> form a tight cluster, while </a:t>
            </a:r>
            <a:r>
              <a:rPr lang="en-US" i="1" dirty="0"/>
              <a:t>m₃</a:t>
            </a:r>
            <a:r>
              <a:rPr lang="en-US" dirty="0"/>
              <a:t> sits isolated far to the right.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We want to fit a GMM with </a:t>
            </a:r>
            <a:r>
              <a:rPr lang="en-US" b="1" dirty="0"/>
              <a:t>K = 2</a:t>
            </a:r>
            <a:r>
              <a:rPr lang="en-US" dirty="0"/>
              <a:t> components.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Initial Parameter Assumptions (Iteration 0)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Priors (Weights):</a:t>
            </a:r>
            <a:r>
              <a:rPr lang="en-US" dirty="0"/>
              <a:t> </a:t>
            </a:r>
            <a:r>
              <a:rPr lang="el-GR" dirty="0"/>
              <a:t>π₁ = 0.5,   π₂ = 0.5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Means (Centers):</a:t>
            </a:r>
            <a:r>
              <a:rPr lang="en-US" dirty="0"/>
              <a:t> </a:t>
            </a:r>
            <a:r>
              <a:rPr lang="el-GR" dirty="0"/>
              <a:t>μ₁ = 3.0,   μ₂ = 7.0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Variances:</a:t>
            </a:r>
            <a:r>
              <a:rPr lang="en-US" dirty="0"/>
              <a:t> </a:t>
            </a:r>
            <a:r>
              <a:rPr lang="el-GR" dirty="0"/>
              <a:t>σ₁² = 1.0,   σ₂² = 1.0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B4771-DC00-1863-9218-58AD56AB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079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65778-35FB-7C52-0D40-FC9412BA2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7288C-E013-A67D-FB05-E51AC241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GMM Estimation Example</a:t>
            </a:r>
            <a:br>
              <a:rPr lang="en-US" dirty="0"/>
            </a:br>
            <a:r>
              <a:rPr lang="en-US" sz="3000" b="1" dirty="0">
                <a:solidFill>
                  <a:srgbClr val="FFC000"/>
                </a:solidFill>
              </a:rPr>
              <a:t>Step 1: The E-Step (Expectation)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8EFE3-0E40-4DBC-3448-07CD40878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770434"/>
            <a:ext cx="10545609" cy="447796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Step 1: The E-Step (Expectation)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Using </a:t>
            </a:r>
            <a:r>
              <a:rPr lang="en-US" b="1" dirty="0"/>
              <a:t>Equation 4.103</a:t>
            </a:r>
            <a:r>
              <a:rPr lang="en-US" dirty="0"/>
              <a:t>, we evaluate the responsibility </a:t>
            </a:r>
            <a:r>
              <a:rPr lang="el-GR" dirty="0"/>
              <a:t>γ(</a:t>
            </a:r>
            <a:r>
              <a:rPr lang="en-US" dirty="0" err="1"/>
              <a:t>z</a:t>
            </a:r>
            <a:r>
              <a:rPr lang="en-US" baseline="-25000" dirty="0" err="1"/>
              <a:t>nk</a:t>
            </a:r>
            <a:r>
              <a:rPr lang="en-US" dirty="0"/>
              <a:t>) for each point.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First, we compute the raw Gaussian probability densities via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	𝒩(x | </a:t>
            </a:r>
            <a:r>
              <a:rPr lang="el-GR" dirty="0"/>
              <a:t>μ, σ²) = (1 / √(2πσ²)) * </a:t>
            </a:r>
            <a:r>
              <a:rPr lang="en-US" dirty="0"/>
              <a:t>e^(-(m-</a:t>
            </a:r>
            <a:r>
              <a:rPr lang="el-GR" dirty="0"/>
              <a:t>μ)² / 2σ²). </a:t>
            </a:r>
            <a:r>
              <a:rPr lang="en-US" dirty="0"/>
              <a:t> Knowing that 1 / √(2</a:t>
            </a:r>
            <a:r>
              <a:rPr lang="el-GR" dirty="0"/>
              <a:t>π) ≈ 0.4: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For x₁ = 2:</a:t>
            </a:r>
            <a:r>
              <a:rPr lang="en-US" dirty="0"/>
              <a:t> 𝒩₁(2|3,1) = 0.4 * e⁻⁰⁵ ≈ 0.242  |  𝒩₂(2|7,1) = 0.4 * e⁻¹²⁵ ≈ 0.000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For x₂ = 3:</a:t>
            </a:r>
            <a:r>
              <a:rPr lang="en-US" dirty="0"/>
              <a:t> 𝒩₁(3|3,1) = 0.4 * e⁰ = 0.400  |  𝒩₂(3|7,1) = 0.4 * e⁻⁸ ≈ 0.000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For x₃ = 8:</a:t>
            </a:r>
            <a:r>
              <a:rPr lang="en-US" dirty="0"/>
              <a:t> 𝒩₁(8|3,1) = 0.4 * e⁻¹²⁵ ≈ 0.000  |  𝒩₂(8|7,1) = 0.4 * e⁻⁰⁵ ≈ 0.242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1235C-5D1F-F333-6E1E-18B40931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9460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702B3-F960-E276-3768-C75B9B815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63235-8FC0-DB42-9A74-25964612A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GMM Estimation Example</a:t>
            </a:r>
            <a:br>
              <a:rPr lang="en-US" dirty="0"/>
            </a:br>
            <a:r>
              <a:rPr lang="en-US" sz="3000" b="1" dirty="0">
                <a:solidFill>
                  <a:srgbClr val="FFC000"/>
                </a:solidFill>
              </a:rPr>
              <a:t>Step 1: The E-Step (Expectation)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CE09-BAAD-F53A-902E-704A8B815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935804"/>
            <a:ext cx="10545609" cy="61284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Normalizing these values yields the definitive responsibility matrix: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0BB31-A7FA-813D-D48F-E593B94F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57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340FA7-07AB-DF29-2F37-0B637BEA9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910902"/>
              </p:ext>
            </p:extLst>
          </p:nvPr>
        </p:nvGraphicFramePr>
        <p:xfrm>
          <a:off x="645129" y="2725636"/>
          <a:ext cx="1054560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603">
                  <a:extLst>
                    <a:ext uri="{9D8B030D-6E8A-4147-A177-3AD203B41FA5}">
                      <a16:colId xmlns:a16="http://schemas.microsoft.com/office/drawing/2014/main" val="3043280015"/>
                    </a:ext>
                  </a:extLst>
                </a:gridCol>
                <a:gridCol w="4503906">
                  <a:extLst>
                    <a:ext uri="{9D8B030D-6E8A-4147-A177-3AD203B41FA5}">
                      <a16:colId xmlns:a16="http://schemas.microsoft.com/office/drawing/2014/main" val="253975633"/>
                    </a:ext>
                  </a:extLst>
                </a:gridCol>
                <a:gridCol w="4284100">
                  <a:extLst>
                    <a:ext uri="{9D8B030D-6E8A-4147-A177-3AD203B41FA5}">
                      <a16:colId xmlns:a16="http://schemas.microsoft.com/office/drawing/2014/main" val="3584735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Datapoint (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r>
                        <a:rPr lang="en-US" baseline="-25000" dirty="0" err="1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Responsibility of Component 1: γ(z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  <a:effectLst/>
                        </a:rPr>
                        <a:t>n1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Responsibility of Component 2: γ(z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  <a:effectLst/>
                        </a:rPr>
                        <a:t>n2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706776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x₁ = 2</a:t>
                      </a:r>
                      <a:endParaRPr lang="en-US" dirty="0">
                        <a:effectLst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0.5(0.242) / [0.5(0.242) + 0] = </a:t>
                      </a:r>
                      <a:r>
                        <a:rPr lang="en-US" b="1">
                          <a:effectLst/>
                        </a:rPr>
                        <a:t>1.0</a:t>
                      </a:r>
                      <a:endParaRPr lang="en-US">
                        <a:effectLst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 / [0.5(0.242) + 0] = </a:t>
                      </a:r>
                      <a:r>
                        <a:rPr lang="en-US" b="1">
                          <a:effectLst/>
                        </a:rPr>
                        <a:t>0.0</a:t>
                      </a:r>
                      <a:endParaRPr lang="en-US">
                        <a:effectLst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3527094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x₂ = 3</a:t>
                      </a:r>
                      <a:endParaRPr lang="en-US" dirty="0">
                        <a:effectLst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0.5(0.400) / [0.5(0.400) + 0] = </a:t>
                      </a:r>
                      <a:r>
                        <a:rPr lang="en-US" b="1">
                          <a:effectLst/>
                        </a:rPr>
                        <a:t>1.0</a:t>
                      </a:r>
                      <a:endParaRPr lang="en-US">
                        <a:effectLst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 / [0.5(0.400) + 0] = </a:t>
                      </a:r>
                      <a:r>
                        <a:rPr lang="en-US" b="1">
                          <a:effectLst/>
                        </a:rPr>
                        <a:t>0.0</a:t>
                      </a:r>
                      <a:endParaRPr lang="en-US">
                        <a:effectLst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60859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x₃ = 8</a:t>
                      </a:r>
                      <a:endParaRPr lang="en-US" dirty="0">
                        <a:effectLst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 / [0 + 0.5(0.242)] = </a:t>
                      </a:r>
                      <a:r>
                        <a:rPr lang="en-US" b="1">
                          <a:effectLst/>
                        </a:rPr>
                        <a:t>0.0</a:t>
                      </a:r>
                      <a:endParaRPr lang="en-US">
                        <a:effectLst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0.5(0.242) / [0 + 0.5(0.242)] = </a:t>
                      </a:r>
                      <a:r>
                        <a:rPr lang="en-US" b="1" dirty="0">
                          <a:effectLst/>
                        </a:rPr>
                        <a:t>1.0</a:t>
                      </a:r>
                      <a:endParaRPr lang="en-US" dirty="0">
                        <a:effectLst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0380439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1086004-9001-DC8B-05D0-904F1C7F9D2C}"/>
              </a:ext>
            </a:extLst>
          </p:cNvPr>
          <p:cNvSpPr txBox="1"/>
          <p:nvPr/>
        </p:nvSpPr>
        <p:spPr>
          <a:xfrm>
            <a:off x="645128" y="4812063"/>
            <a:ext cx="10545609" cy="1481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anose="05000000000000000000" pitchFamily="2" charset="2"/>
              <a:buChar char="§"/>
              <a:defRPr sz="2000" b="0" i="0">
                <a:latin typeface="+mj-lt"/>
                <a:ea typeface="+mj-ea"/>
                <a:cs typeface="+mj-cs"/>
              </a:defRPr>
            </a:lvl1pPr>
            <a:lvl2pPr marL="742950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/>
              <a:t>Note: Because our initialized cluster guesses were already separated far apart, the responsibility calculations cleanly split full ownership (1.0 vs 0.0) across the targets.</a:t>
            </a:r>
          </a:p>
        </p:txBody>
      </p:sp>
    </p:spTree>
    <p:extLst>
      <p:ext uri="{BB962C8B-B14F-4D97-AF65-F5344CB8AC3E}">
        <p14:creationId xmlns:p14="http://schemas.microsoft.com/office/powerpoint/2010/main" val="32710404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526D8-A93D-EECA-02CF-AE0FFEBE6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6BEC-AAD5-0E8C-AE9C-5673F7EBF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GMM Estimation Example</a:t>
            </a:r>
            <a:br>
              <a:rPr lang="en-US" dirty="0"/>
            </a:br>
            <a:r>
              <a:rPr lang="en-US" sz="3000" b="1" dirty="0">
                <a:solidFill>
                  <a:srgbClr val="FFC000"/>
                </a:solidFill>
              </a:rPr>
              <a:t>Step 2: The M-Step (Maximization)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21E1-17F3-67B7-01D7-0DDBEF281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935804"/>
            <a:ext cx="10545609" cy="431259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Step 2: The M-Step (Maximization)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Using the responsibilities from the table above, we calculate the brand new parameter adjustments outlined in </a:t>
            </a:r>
            <a:r>
              <a:rPr lang="en-US" b="1" dirty="0"/>
              <a:t>Equation 4.105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1. Effective count of points allocated to components (</a:t>
            </a:r>
            <a:r>
              <a:rPr lang="en-US" b="1" dirty="0" err="1"/>
              <a:t>N</a:t>
            </a:r>
            <a:r>
              <a:rPr lang="en-US" b="1" baseline="-25000" dirty="0" err="1"/>
              <a:t>k</a:t>
            </a:r>
            <a:r>
              <a:rPr lang="en-US" b="1" dirty="0"/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N₁ = 1.0 + 1.0 + 0.0 = 2.0</a:t>
            </a:r>
            <a:br>
              <a:rPr lang="en-US" b="1" dirty="0"/>
            </a:br>
            <a:r>
              <a:rPr lang="en-US" b="1" dirty="0"/>
              <a:t>N₂ = 0.0 + 0.0 + 1.0 = 1.0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2. Update Mixing Coefficients (π</a:t>
            </a:r>
            <a:r>
              <a:rPr lang="en-US" b="1" baseline="-25000" dirty="0"/>
              <a:t>k</a:t>
            </a:r>
            <a:r>
              <a:rPr lang="en-US" b="1" dirty="0"/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π₁</a:t>
            </a:r>
            <a:r>
              <a:rPr lang="en-US" b="1" baseline="30000" dirty="0"/>
              <a:t>new</a:t>
            </a:r>
            <a:r>
              <a:rPr lang="en-US" b="1" dirty="0"/>
              <a:t> = N₁ / N = 2 / 3 ≈ 0.667</a:t>
            </a:r>
            <a:br>
              <a:rPr lang="en-US" b="1" dirty="0"/>
            </a:br>
            <a:r>
              <a:rPr lang="en-US" b="1" dirty="0"/>
              <a:t>π₂</a:t>
            </a:r>
            <a:r>
              <a:rPr lang="en-US" b="1" baseline="30000" dirty="0"/>
              <a:t>new</a:t>
            </a:r>
            <a:r>
              <a:rPr lang="en-US" b="1" dirty="0"/>
              <a:t> = N₂ / N = 1 / 3 ≈ 0.333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46E5B-37A4-72EC-0084-CA0BF44D6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844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6B672-7D90-4ADD-6DBF-0DB812EB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2084B-7899-61BF-1A59-5F352AA8B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GMM Estimation Example</a:t>
            </a:r>
            <a:br>
              <a:rPr lang="en-US" dirty="0"/>
            </a:br>
            <a:r>
              <a:rPr lang="en-US" sz="3000" b="1" dirty="0">
                <a:solidFill>
                  <a:srgbClr val="FFC000"/>
                </a:solidFill>
              </a:rPr>
              <a:t>Step 2: The M-Step (Maximization)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C15E8-CECA-2EE6-3FDA-6E936EB46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935804"/>
            <a:ext cx="10545609" cy="431259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3. Update Means (</a:t>
            </a:r>
            <a:r>
              <a:rPr lang="el-GR" b="1" dirty="0"/>
              <a:t>μ</a:t>
            </a:r>
            <a:r>
              <a:rPr lang="en-US" b="1" baseline="-25000" dirty="0"/>
              <a:t>k</a:t>
            </a:r>
            <a:r>
              <a:rPr lang="en-US" b="1" dirty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l-GR" b="1" dirty="0"/>
              <a:t>μ₁</a:t>
            </a:r>
            <a:r>
              <a:rPr lang="en-US" b="1" baseline="30000" dirty="0"/>
              <a:t>new</a:t>
            </a:r>
            <a:r>
              <a:rPr lang="en-US" b="1" dirty="0"/>
              <a:t> = [(1.0 * 2) + (1.0 * 3) + 0] / 2.0 = 5 / 2 = 2.5</a:t>
            </a:r>
            <a:br>
              <a:rPr lang="en-US" b="1" dirty="0"/>
            </a:br>
            <a:r>
              <a:rPr lang="el-GR" b="1" dirty="0"/>
              <a:t>μ₂</a:t>
            </a:r>
            <a:r>
              <a:rPr lang="en-US" b="1" baseline="30000" dirty="0"/>
              <a:t>new</a:t>
            </a:r>
            <a:r>
              <a:rPr lang="en-US" b="1" dirty="0"/>
              <a:t> = [0 + 0 + (1.0 * 8)] / 1.0 = 8 / 1 = 8.0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4. Update Variances (</a:t>
            </a:r>
            <a:r>
              <a:rPr lang="el-GR" b="1" dirty="0"/>
              <a:t>σ</a:t>
            </a:r>
            <a:r>
              <a:rPr lang="en-US" b="1" baseline="-25000" dirty="0"/>
              <a:t>k</a:t>
            </a:r>
            <a:r>
              <a:rPr lang="en-US" b="1" dirty="0"/>
              <a:t>²)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l-GR" b="1" dirty="0"/>
              <a:t>σ₁²</a:t>
            </a:r>
            <a:r>
              <a:rPr lang="el-GR" b="1" baseline="30000" dirty="0"/>
              <a:t>, </a:t>
            </a:r>
            <a:r>
              <a:rPr lang="en-US" b="1" baseline="30000" dirty="0"/>
              <a:t>new</a:t>
            </a:r>
            <a:r>
              <a:rPr lang="en-US" b="1" dirty="0"/>
              <a:t> = [1.0*(2 - 2.5)² + 1.0*(3 - 2.5)² + 0] / 2.0 = [0.25 + 0.25] / 2.0 = 0.25</a:t>
            </a:r>
            <a:br>
              <a:rPr lang="en-US" b="1" dirty="0"/>
            </a:br>
            <a:r>
              <a:rPr lang="el-GR" b="1" dirty="0"/>
              <a:t>σ₂²</a:t>
            </a:r>
            <a:r>
              <a:rPr lang="el-GR" b="1" baseline="30000" dirty="0"/>
              <a:t>, </a:t>
            </a:r>
            <a:r>
              <a:rPr lang="en-US" b="1" baseline="30000" dirty="0"/>
              <a:t>new</a:t>
            </a:r>
            <a:r>
              <a:rPr lang="en-US" b="1" dirty="0"/>
              <a:t> = [0 + 0 + 1.0*(8 - 8.0)²] / 1.0 = 0 / 1 = 0.0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Singularity Warning Realized: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Look at Component 2's new variance: </a:t>
            </a:r>
            <a:r>
              <a:rPr lang="en-US" b="1" dirty="0"/>
              <a:t>σ₂² = 0.0</a:t>
            </a:r>
            <a:r>
              <a:rPr lang="en-US" dirty="0"/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Because Component 2 isolated a single lone point (m₃ = 8) and locked its center center-mass onto it exactly (μ₂ = 8.0), its variance distribution completely collapsed.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Attempting a second step calculation with zero variance triggers division by zero, spinning our likelihood calculations straight out to infinity!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71315-A34C-CAF1-562D-2947FFFB3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1772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749A4-F478-C52A-1174-7C7D0B6E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32E80D-0321-6FE8-D40C-345AA5FE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Real-World Parameter Estimation Applications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2FA17-4C4F-B7FA-7423-98E92E54B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7820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C0C7F-2857-BD2A-8AF0-AA5329DD2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FFBD-7FFB-AEAC-736A-AD80CE33E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Parameter Estimation Applications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3DCD14D-5E0D-C268-0F14-8BB2FD0677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1684940"/>
              </p:ext>
            </p:extLst>
          </p:nvPr>
        </p:nvGraphicFramePr>
        <p:xfrm>
          <a:off x="818931" y="2381203"/>
          <a:ext cx="1055413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7008">
                  <a:extLst>
                    <a:ext uri="{9D8B030D-6E8A-4147-A177-3AD203B41FA5}">
                      <a16:colId xmlns:a16="http://schemas.microsoft.com/office/drawing/2014/main" val="3068168301"/>
                    </a:ext>
                  </a:extLst>
                </a:gridCol>
                <a:gridCol w="1707661">
                  <a:extLst>
                    <a:ext uri="{9D8B030D-6E8A-4147-A177-3AD203B41FA5}">
                      <a16:colId xmlns:a16="http://schemas.microsoft.com/office/drawing/2014/main" val="921167445"/>
                    </a:ext>
                  </a:extLst>
                </a:gridCol>
                <a:gridCol w="5429469">
                  <a:extLst>
                    <a:ext uri="{9D8B030D-6E8A-4147-A177-3AD203B41FA5}">
                      <a16:colId xmlns:a16="http://schemas.microsoft.com/office/drawing/2014/main" val="4112543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Application / Core System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Corporation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What it Predicts / Estimates</a:t>
                      </a:r>
                    </a:p>
                  </a:txBody>
                  <a:tcPr marL="142875" marR="142875" marT="114300" marB="114300" anchor="ctr"/>
                </a:tc>
                <a:extLst>
                  <a:ext uri="{0D108BD9-81ED-4DB2-BD59-A6C34878D82A}">
                    <a16:rowId xmlns:a16="http://schemas.microsoft.com/office/drawing/2014/main" val="244564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Amazon Advertising CTR Model</a:t>
                      </a:r>
                      <a:endParaRPr lang="en-US">
                        <a:effectLst/>
                      </a:endParaRP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Amazon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Estimates probability parameters (</a:t>
                      </a:r>
                      <a:r>
                        <a:rPr lang="en-US" dirty="0" err="1">
                          <a:effectLst/>
                          <a:latin typeface="Courier New" panose="02070309020205020404" pitchFamily="49" charset="0"/>
                        </a:rPr>
                        <a:t>p_ctr</a:t>
                      </a:r>
                      <a:r>
                        <a:rPr lang="en-US" dirty="0">
                          <a:effectLst/>
                        </a:rPr>
                        <a:t>) that a user will click an ad based on shopping query, time, and device context.</a:t>
                      </a:r>
                    </a:p>
                  </a:txBody>
                  <a:tcPr marL="142875" marR="142875" marT="114300" marB="114300" anchor="ctr"/>
                </a:tc>
                <a:extLst>
                  <a:ext uri="{0D108BD9-81ED-4DB2-BD59-A6C34878D82A}">
                    <a16:rowId xmlns:a16="http://schemas.microsoft.com/office/drawing/2014/main" val="3750381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Netflix Recommendation Engine</a:t>
                      </a:r>
                      <a:endParaRPr lang="en-US">
                        <a:effectLst/>
                      </a:endParaRP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Netflix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Estimates hidden user-preference and movie-characteristic parameters using matrix factorization to predict how much you'll like a title.</a:t>
                      </a:r>
                    </a:p>
                  </a:txBody>
                  <a:tcPr marL="142875" marR="142875" marT="114300" marB="114300" anchor="ctr"/>
                </a:tc>
                <a:extLst>
                  <a:ext uri="{0D108BD9-81ED-4DB2-BD59-A6C34878D82A}">
                    <a16:rowId xmlns:a16="http://schemas.microsoft.com/office/drawing/2014/main" val="261403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Uber Dynamic Pricing (Surge)</a:t>
                      </a:r>
                      <a:endParaRPr lang="en-US">
                        <a:effectLst/>
                      </a:endParaRP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Uber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Constantly estimates supply and demand multiplier parameters in real-time based on local rider traffic and available drivers.</a:t>
                      </a:r>
                    </a:p>
                  </a:txBody>
                  <a:tcPr marL="142875" marR="142875" marT="114300" marB="114300" anchor="ctr"/>
                </a:tc>
                <a:extLst>
                  <a:ext uri="{0D108BD9-81ED-4DB2-BD59-A6C34878D82A}">
                    <a16:rowId xmlns:a16="http://schemas.microsoft.com/office/drawing/2014/main" val="249958783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192BB-B217-CCD4-07CD-D39212E3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8601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E1DA3-BCE9-997D-3059-B78B5AD5C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F0C4-D9CA-29B3-A499-B73BF56BA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Parameter Estimation Applications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AC04DFF-3CBA-4C57-8F84-0040DCB0BB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6068050"/>
              </p:ext>
            </p:extLst>
          </p:nvPr>
        </p:nvGraphicFramePr>
        <p:xfrm>
          <a:off x="813163" y="2081711"/>
          <a:ext cx="10565673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543">
                  <a:extLst>
                    <a:ext uri="{9D8B030D-6E8A-4147-A177-3AD203B41FA5}">
                      <a16:colId xmlns:a16="http://schemas.microsoft.com/office/drawing/2014/main" val="3068168301"/>
                    </a:ext>
                  </a:extLst>
                </a:gridCol>
                <a:gridCol w="1709469">
                  <a:extLst>
                    <a:ext uri="{9D8B030D-6E8A-4147-A177-3AD203B41FA5}">
                      <a16:colId xmlns:a16="http://schemas.microsoft.com/office/drawing/2014/main" val="921167445"/>
                    </a:ext>
                  </a:extLst>
                </a:gridCol>
                <a:gridCol w="5427661">
                  <a:extLst>
                    <a:ext uri="{9D8B030D-6E8A-4147-A177-3AD203B41FA5}">
                      <a16:colId xmlns:a16="http://schemas.microsoft.com/office/drawing/2014/main" val="4112543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Application / Core System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Corporation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What it Predicts / Estimates</a:t>
                      </a:r>
                    </a:p>
                  </a:txBody>
                  <a:tcPr marL="142875" marR="142875" marT="114300" marB="114300" anchor="ctr"/>
                </a:tc>
                <a:extLst>
                  <a:ext uri="{0D108BD9-81ED-4DB2-BD59-A6C34878D82A}">
                    <a16:rowId xmlns:a16="http://schemas.microsoft.com/office/drawing/2014/main" val="244564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TikTok For You Page (FYP) Algorithm</a:t>
                      </a:r>
                      <a:endParaRPr lang="en-US">
                        <a:effectLst/>
                      </a:endParaRP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ByteDance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Estimates dynamic retention weights (parameters) for each user based on millisecond-level watch time and interaction loops.</a:t>
                      </a:r>
                    </a:p>
                  </a:txBody>
                  <a:tcPr marL="142875" marR="142875" marT="114300" marB="114300" anchor="ctr"/>
                </a:tc>
                <a:extLst>
                  <a:ext uri="{0D108BD9-81ED-4DB2-BD59-A6C34878D82A}">
                    <a16:rowId xmlns:a16="http://schemas.microsoft.com/office/drawing/2014/main" val="3750381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Google Search Ad Auction (Smart Bidding)</a:t>
                      </a:r>
                      <a:endParaRPr lang="en-US">
                        <a:effectLst/>
                      </a:endParaRP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Google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Estimates conversion rate parameters to automatically calculate optimal, real-time keyword bid prices for millions of live advertisers.</a:t>
                      </a:r>
                    </a:p>
                  </a:txBody>
                  <a:tcPr marL="142875" marR="142875" marT="114300" marB="114300" anchor="ctr"/>
                </a:tc>
                <a:extLst>
                  <a:ext uri="{0D108BD9-81ED-4DB2-BD59-A6C34878D82A}">
                    <a16:rowId xmlns:a16="http://schemas.microsoft.com/office/drawing/2014/main" val="261403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Spotify Discover Weekly</a:t>
                      </a:r>
                      <a:endParaRPr lang="en-US">
                        <a:effectLst/>
                      </a:endParaRP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Spotify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Estimates acoustic attribute parameters (valence, danceability, energy) of songs alongside user taste profiles to match music preferences.</a:t>
                      </a:r>
                    </a:p>
                  </a:txBody>
                  <a:tcPr marL="142875" marR="142875" marT="114300" marB="114300" anchor="ctr"/>
                </a:tc>
                <a:extLst>
                  <a:ext uri="{0D108BD9-81ED-4DB2-BD59-A6C34878D82A}">
                    <a16:rowId xmlns:a16="http://schemas.microsoft.com/office/drawing/2014/main" val="249958783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787A6-563E-A315-D834-F6260054D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240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59BC2-34E1-6963-1B0A-BEF29A231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F370-B1FE-9314-D075-7CF394198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Parameter Estimation Applications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3B22CE8-22B5-5D46-BD8A-E8791CCAB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5428063"/>
              </p:ext>
            </p:extLst>
          </p:nvPr>
        </p:nvGraphicFramePr>
        <p:xfrm>
          <a:off x="813163" y="2383268"/>
          <a:ext cx="10565673" cy="3492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543">
                  <a:extLst>
                    <a:ext uri="{9D8B030D-6E8A-4147-A177-3AD203B41FA5}">
                      <a16:colId xmlns:a16="http://schemas.microsoft.com/office/drawing/2014/main" val="3068168301"/>
                    </a:ext>
                  </a:extLst>
                </a:gridCol>
                <a:gridCol w="1709469">
                  <a:extLst>
                    <a:ext uri="{9D8B030D-6E8A-4147-A177-3AD203B41FA5}">
                      <a16:colId xmlns:a16="http://schemas.microsoft.com/office/drawing/2014/main" val="921167445"/>
                    </a:ext>
                  </a:extLst>
                </a:gridCol>
                <a:gridCol w="5427661">
                  <a:extLst>
                    <a:ext uri="{9D8B030D-6E8A-4147-A177-3AD203B41FA5}">
                      <a16:colId xmlns:a16="http://schemas.microsoft.com/office/drawing/2014/main" val="4112543347"/>
                    </a:ext>
                  </a:extLst>
                </a:gridCol>
              </a:tblGrid>
              <a:tr h="6097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Application / Core System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Corporation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What it Predicts / Estimates</a:t>
                      </a:r>
                    </a:p>
                  </a:txBody>
                  <a:tcPr marL="142875" marR="142875" marT="114300" marB="114300" anchor="ctr"/>
                </a:tc>
                <a:extLst>
                  <a:ext uri="{0D108BD9-81ED-4DB2-BD59-A6C34878D82A}">
                    <a16:rowId xmlns:a16="http://schemas.microsoft.com/office/drawing/2014/main" val="244564429"/>
                  </a:ext>
                </a:extLst>
              </a:tr>
              <a:tr h="12749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Airbnb Search Ranking &amp; Smart Pricing</a:t>
                      </a:r>
                      <a:endParaRPr lang="en-US">
                        <a:effectLst/>
                      </a:endParaRP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Airbnb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Estimates booking probability parameters based on seasonal demand, listing prices, and specific amenities.</a:t>
                      </a:r>
                    </a:p>
                  </a:txBody>
                  <a:tcPr marL="142875" marR="142875" marT="114300" marB="114300" anchor="ctr"/>
                </a:tc>
                <a:extLst>
                  <a:ext uri="{0D108BD9-81ED-4DB2-BD59-A6C34878D82A}">
                    <a16:rowId xmlns:a16="http://schemas.microsoft.com/office/drawing/2014/main" val="3750381939"/>
                  </a:ext>
                </a:extLst>
              </a:tr>
              <a:tr h="16075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Meta Ad Relevance Scoring</a:t>
                      </a:r>
                      <a:endParaRPr lang="en-US">
                        <a:effectLst/>
                      </a:endParaRP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Meta (Facebook/Instagram)</a:t>
                      </a:r>
                    </a:p>
                  </a:txBody>
                  <a:tcPr marL="142875" marR="142875" marT="114300" marB="1143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Estimates parameters determining user ad relevance scores to decide exactly which targeted commercial spots run on a user's feed.</a:t>
                      </a:r>
                    </a:p>
                  </a:txBody>
                  <a:tcPr marL="142875" marR="142875" marT="114300" marB="114300" anchor="ctr"/>
                </a:tc>
                <a:extLst>
                  <a:ext uri="{0D108BD9-81ED-4DB2-BD59-A6C34878D82A}">
                    <a16:rowId xmlns:a16="http://schemas.microsoft.com/office/drawing/2014/main" val="261403869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A940C-F10A-6CF7-28F1-BBF057E83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A5CAE-008F-4D91-B9F8-9E20DE4C64DD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5077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D8E91-2683-4B49-85DD-D7C9B97CEDCA}" type="slidenum">
              <a:rPr lang="en-US" smtClean="0"/>
              <a:t>64</a:t>
            </a:fld>
            <a:endParaRPr lang="en-US"/>
          </a:p>
        </p:txBody>
      </p:sp>
      <p:pic>
        <p:nvPicPr>
          <p:cNvPr id="209718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593" y="996793"/>
            <a:ext cx="9369302" cy="556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517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32823</TotalTime>
  <Words>5724</Words>
  <Application>Microsoft Office PowerPoint</Application>
  <PresentationFormat>Widescreen</PresentationFormat>
  <Paragraphs>655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3" baseType="lpstr">
      <vt:lpstr>Arial</vt:lpstr>
      <vt:lpstr>Calibri</vt:lpstr>
      <vt:lpstr>Cambria Math</vt:lpstr>
      <vt:lpstr>Century Gothic</vt:lpstr>
      <vt:lpstr>Consolas</vt:lpstr>
      <vt:lpstr>Courier New</vt:lpstr>
      <vt:lpstr>Wingdings</vt:lpstr>
      <vt:lpstr>Wingdings 3</vt:lpstr>
      <vt:lpstr>Ion</vt:lpstr>
      <vt:lpstr>Parameter Estimation </vt:lpstr>
      <vt:lpstr>🔍 Chapter 4 Roadmap</vt:lpstr>
      <vt:lpstr>Statistics &amp; Estimators</vt:lpstr>
      <vt:lpstr>Two Doctrines of Probability </vt:lpstr>
      <vt:lpstr>MLE vs MAP Estimation </vt:lpstr>
      <vt:lpstr>Unbiased Estimator — Definition </vt:lpstr>
      <vt:lpstr>Cramér–Rao Bound </vt:lpstr>
      <vt:lpstr>Fisher Information </vt:lpstr>
      <vt:lpstr>Fisher Information </vt:lpstr>
      <vt:lpstr>Consistency &amp; Bias-Variance Tradeoff </vt:lpstr>
      <vt:lpstr>Example: Empirical Mean Estimator </vt:lpstr>
      <vt:lpstr>Bias-Variance Tradeoff</vt:lpstr>
      <vt:lpstr>Maximum Likelihood Estimation (MLE) </vt:lpstr>
      <vt:lpstr>Likelihood Functions</vt:lpstr>
      <vt:lpstr>Likelihood Functions</vt:lpstr>
      <vt:lpstr>MLE for Gaussian: Estimating μ  (Σ known) </vt:lpstr>
      <vt:lpstr>MLE for Gaussian: Estimating μ and σ² </vt:lpstr>
      <vt:lpstr>MLE Results Summary - Gaussian Distribution </vt:lpstr>
      <vt:lpstr>Bayesian Estimation of the Class-Specific Distributions</vt:lpstr>
      <vt:lpstr>Overview</vt:lpstr>
      <vt:lpstr>MAP Parameter Estimation for a Univariant Gaussian Distributions</vt:lpstr>
      <vt:lpstr>MAP Parameter Estimation for a Univariant Gaussian Distributions</vt:lpstr>
      <vt:lpstr>MAP Parameter Estimation for a Univariant Gaussian Distributions</vt:lpstr>
      <vt:lpstr>MAP Parameter Estimation for a Univariant Gaussian Distributions</vt:lpstr>
      <vt:lpstr>Limiting Behavior as N → ∞ </vt:lpstr>
      <vt:lpstr>The Effect of dataset size</vt:lpstr>
      <vt:lpstr>Multivariate Gaussian Case </vt:lpstr>
      <vt:lpstr>Summary: Principal Steps of the Bayesian Approach </vt:lpstr>
      <vt:lpstr>Bayesian vs. Maximum Likelihood Estimation </vt:lpstr>
      <vt:lpstr>Bayesian Parameter Estimation </vt:lpstr>
      <vt:lpstr>ML vs. Bayesian: Core Idea </vt:lpstr>
      <vt:lpstr>Estimation via Minimizing Expected Cost </vt:lpstr>
      <vt:lpstr>Example</vt:lpstr>
      <vt:lpstr>The Simple Rule</vt:lpstr>
      <vt:lpstr>4.4  Sources of Error in Bayesian Classification </vt:lpstr>
      <vt:lpstr>MLE and MAP Summary</vt:lpstr>
      <vt:lpstr>MLE vs MAP </vt:lpstr>
      <vt:lpstr>Parameter Estimation: MLE vs MAP  </vt:lpstr>
      <vt:lpstr>Parameter Estimation: MLE vs MAP Maximum Likelihood Estimation (MLE)  </vt:lpstr>
      <vt:lpstr>Parameter Estimation: MLE vs MAP Maximum A Posteriori (MAP)  </vt:lpstr>
      <vt:lpstr>Parameter Estimation: MLE vs MAP Maximum A Posteriori (MAP)  </vt:lpstr>
      <vt:lpstr>Parameter Estimation: MLE vs MAP  </vt:lpstr>
      <vt:lpstr>Parameter Estimation for Gaussian Mixtures </vt:lpstr>
      <vt:lpstr>Gaussian Mixture Models</vt:lpstr>
      <vt:lpstr>Jensen's Inequality</vt:lpstr>
      <vt:lpstr>Visualization for E-step and M-step</vt:lpstr>
      <vt:lpstr>Latent Variable View of Mixture Models </vt:lpstr>
      <vt:lpstr>The EM Algorithm — Overview </vt:lpstr>
      <vt:lpstr>Closed-Form M-Step Updates for GMMs </vt:lpstr>
      <vt:lpstr>EM Algorithm — Complete Procedure </vt:lpstr>
      <vt:lpstr>GMM Visual Example</vt:lpstr>
      <vt:lpstr>GMM Visual Example</vt:lpstr>
      <vt:lpstr>Practical Considerations &amp; Limitations </vt:lpstr>
      <vt:lpstr>EM Summary </vt:lpstr>
      <vt:lpstr>Manual GMM Estimation Example Initial Parameter Assumptions</vt:lpstr>
      <vt:lpstr>Manual GMM Estimation Example Step 1: The E-Step (Expectation) </vt:lpstr>
      <vt:lpstr>Manual GMM Estimation Example Step 1: The E-Step (Expectation)</vt:lpstr>
      <vt:lpstr>Manual GMM Estimation Example Step 2: The M-Step (Maximization)</vt:lpstr>
      <vt:lpstr>Manual GMM Estimation Example Step 2: The M-Step (Maximization) </vt:lpstr>
      <vt:lpstr>Real-World Parameter Estimation Applications </vt:lpstr>
      <vt:lpstr>Real-World Parameter Estimation Applications  </vt:lpstr>
      <vt:lpstr>Real-World Parameter Estimation Applications  </vt:lpstr>
      <vt:lpstr>Real-World Parameter Estimation Applications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Regression &amp; Linear Regression</dc:title>
  <dc:creator>thaer sahmoud</dc:creator>
  <cp:lastModifiedBy>Thaer Sahmoud</cp:lastModifiedBy>
  <cp:revision>690</cp:revision>
  <dcterms:created xsi:type="dcterms:W3CDTF">2022-11-09T09:59:55Z</dcterms:created>
  <dcterms:modified xsi:type="dcterms:W3CDTF">2026-06-17T11:22:02Z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c4701b-870c-41f5-81b1-b52e4974867b_Enabled">
    <vt:lpwstr>true</vt:lpwstr>
  </property>
  <property fmtid="{D5CDD505-2E9C-101B-9397-08002B2CF9AE}" pid="3" name="MSIP_Label_8ec4701b-870c-41f5-81b1-b52e4974867b_SetDate">
    <vt:lpwstr>2025-04-07T19:19:48Z</vt:lpwstr>
  </property>
  <property fmtid="{D5CDD505-2E9C-101B-9397-08002B2CF9AE}" pid="4" name="MSIP_Label_8ec4701b-870c-41f5-81b1-b52e4974867b_Method">
    <vt:lpwstr>Privileged</vt:lpwstr>
  </property>
  <property fmtid="{D5CDD505-2E9C-101B-9397-08002B2CF9AE}" pid="5" name="MSIP_Label_8ec4701b-870c-41f5-81b1-b52e4974867b_Name">
    <vt:lpwstr>External_OP</vt:lpwstr>
  </property>
  <property fmtid="{D5CDD505-2E9C-101B-9397-08002B2CF9AE}" pid="6" name="MSIP_Label_8ec4701b-870c-41f5-81b1-b52e4974867b_SiteId">
    <vt:lpwstr>0cf84c3a-8693-4d42-b55d-1c3b7cbfcd89</vt:lpwstr>
  </property>
  <property fmtid="{D5CDD505-2E9C-101B-9397-08002B2CF9AE}" pid="7" name="MSIP_Label_8ec4701b-870c-41f5-81b1-b52e4974867b_ActionId">
    <vt:lpwstr>4d6c3077-bce8-4882-823a-79cf504b0ef5</vt:lpwstr>
  </property>
  <property fmtid="{D5CDD505-2E9C-101B-9397-08002B2CF9AE}" pid="8" name="MSIP_Label_8ec4701b-870c-41f5-81b1-b52e4974867b_ContentBits">
    <vt:lpwstr>0</vt:lpwstr>
  </property>
  <property fmtid="{D5CDD505-2E9C-101B-9397-08002B2CF9AE}" pid="9" name="MSIP_Label_8ec4701b-870c-41f5-81b1-b52e4974867b_Tag">
    <vt:lpwstr>10, 0, 1, 1</vt:lpwstr>
  </property>
  <property fmtid="{D5CDD505-2E9C-101B-9397-08002B2CF9AE}" pid="10" name="ICV">
    <vt:lpwstr>cf1007ef22e84f188ebfd66fb2c38ec2</vt:lpwstr>
  </property>
</Properties>
</file>